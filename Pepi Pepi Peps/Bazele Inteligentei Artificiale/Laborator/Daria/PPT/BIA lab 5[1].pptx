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5" r:id="rId3"/>
    <p:sldId id="370" r:id="rId4"/>
    <p:sldId id="281" r:id="rId5"/>
    <p:sldId id="270" r:id="rId6"/>
    <p:sldId id="350" r:id="rId7"/>
    <p:sldId id="374" r:id="rId8"/>
    <p:sldId id="380" r:id="rId9"/>
    <p:sldId id="351" r:id="rId10"/>
    <p:sldId id="381" r:id="rId11"/>
    <p:sldId id="343" r:id="rId12"/>
    <p:sldId id="352" r:id="rId13"/>
    <p:sldId id="376" r:id="rId14"/>
    <p:sldId id="382" r:id="rId15"/>
    <p:sldId id="397" r:id="rId16"/>
    <p:sldId id="383" r:id="rId17"/>
    <p:sldId id="384" r:id="rId18"/>
    <p:sldId id="385" r:id="rId19"/>
    <p:sldId id="388" r:id="rId20"/>
    <p:sldId id="395" r:id="rId21"/>
    <p:sldId id="396" r:id="rId22"/>
    <p:sldId id="398" r:id="rId23"/>
    <p:sldId id="399" r:id="rId24"/>
    <p:sldId id="349" r:id="rId25"/>
    <p:sldId id="353" r:id="rId26"/>
    <p:sldId id="379" r:id="rId27"/>
    <p:sldId id="386" r:id="rId28"/>
    <p:sldId id="387" r:id="rId29"/>
    <p:sldId id="389" r:id="rId30"/>
    <p:sldId id="344" r:id="rId31"/>
    <p:sldId id="354" r:id="rId32"/>
    <p:sldId id="390" r:id="rId33"/>
    <p:sldId id="348" r:id="rId34"/>
    <p:sldId id="355" r:id="rId35"/>
    <p:sldId id="371" r:id="rId36"/>
    <p:sldId id="345" r:id="rId37"/>
    <p:sldId id="356" r:id="rId38"/>
    <p:sldId id="375" r:id="rId39"/>
    <p:sldId id="391" r:id="rId40"/>
    <p:sldId id="328" r:id="rId41"/>
    <p:sldId id="372" r:id="rId42"/>
    <p:sldId id="357" r:id="rId43"/>
    <p:sldId id="373" r:id="rId44"/>
    <p:sldId id="377" r:id="rId45"/>
    <p:sldId id="378" r:id="rId46"/>
    <p:sldId id="366" r:id="rId47"/>
    <p:sldId id="367" r:id="rId48"/>
    <p:sldId id="368" r:id="rId49"/>
    <p:sldId id="392" r:id="rId50"/>
    <p:sldId id="393" r:id="rId51"/>
    <p:sldId id="369" r:id="rId52"/>
    <p:sldId id="394" r:id="rId53"/>
    <p:sldId id="342" r:id="rId5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1T10:40:37.9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1108 1011 24575,'-775'0'0,"768"0"0,0 0 0,1-1 0,-1 0 0,1 0 0,-1 0 0,1-1 0,0 0 0,-1 0 0,1 0 0,0-1 0,0 0 0,1 0 0,-1-1 0,1 1 0,-1-1 0,1 0 0,0-1 0,1 1 0,-1-1 0,1 0 0,0 0 0,0-1 0,-5-9 0,-28-36 0,23 33 0,1-1 0,1 0 0,0-1 0,-9-22 0,1-6 0,9 23 0,0-1 0,2 1 0,0-2 0,2 1 0,1-1 0,1 0 0,-1-34 0,6 52 0,-1 0 0,2 0 0,-1 0 0,1 0 0,1 0 0,0 0 0,0 0 0,1 0 0,0 1 0,0-1 0,1 1 0,0 0 0,0 0 0,1 0 0,0 1 0,0 0 0,1 0 0,0 0 0,13-11 0,14-11 0,-15 11 0,1 1 0,0 0 0,2 2 0,0 0 0,0 2 0,33-16 0,-7 10 0,-8 2 0,0 2 0,82-20 0,-59 23 0,21-4 0,116-9 0,267 24 0,-356 12 0,44 2 0,2351-12 0,-1180-3 0,139 2 0,-1403 3 0,-1 3 0,0 2 0,100 28 0,-117-28 0,1-2 0,-1-1 0,50-2 0,32 3 0,55 5 0,-91-7 0,-67-2 0,-1 2 0,0 0 0,27 9 0,-22-5 0,43 7 0,148 9 0,-204-22 0,0 0 0,0 1 0,0 0 0,0 1 0,0 0 0,-1 1 0,0 0 0,0 1 0,0 1 0,-1 0 0,1 0 0,-2 1 0,1 1 0,12 13 0,-13-13 0,0 1 0,-1 1 0,-1 0 0,1 0 0,-2 1 0,0 0 0,0 0 0,-1 1 0,0-1 0,3 16 0,0 4 0,-1 0 0,-2 1 0,2 37 0,1 14 0,4 89 0,-13-161 0,0-1 0,-1 1 0,0-1 0,-1 0 0,-1 0 0,1 1 0,-9 18 0,7-22 0,0 0 0,-1-1 0,0 1 0,-1-1 0,1 0 0,-1 0 0,-1-1 0,1 0 0,-1 0 0,-10 7 0,-5 3 0,-1-2 0,-40 21 0,50-30 0,0 0 0,0-1 0,0 0 0,0-1 0,-1-1 0,1 0 0,-19 0 0,-293-4 0,95-1 0,156 3 0,0 3 0,-120 20 0,112-11 0,-142 4 0,108-11 0,-980 10 0,701-17 0,-1066 2 0,1298 11 0,13 1 0,-644-10 0,385-4 0,375 0 0,0-1 0,-66-16 0,67 11 0,-1 2 0,1 1 0,-36 0 0,20 2 0,0-2 0,-77-18 0,48 8 0,31 5 0,29 5 0,0 2 0,-29-3 0,-122 7 0,-51-3 0,102-20 0,72 11 0,30 7 0,1 1 0,-25-3 0,18 5-227,1-1-1,0-2 1,-1 0-1,2-1 1,-29-11-1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9T13:34:21.6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24575,'18'20'0,"0"0"0,14 24 0,18 22 0,103 98 0,7-5 0,193 145 0,-283-250 0,106 64 0,-134-95 0,0-1 0,1-3 0,1-1 0,65 16 0,5-9 0,148 13 0,122-10 0,-211-17 0,109 10-33,341 15-1299,-539-35-5494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9T13:34:33.3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24575,'0'9'0,"1"-1"0,0 1 0,0-1 0,1 1 0,1-1 0,-1 0 0,1 0 0,1 0 0,-1 0 0,1 0 0,1-1 0,0 1 0,9 11 0,7 4 0,0-1 0,38 30 0,-48-43 0,63 49 0,2-3 0,3-3 0,1-4 0,3-4 0,172 66 0,-34-37 0,282 55 0,292 18 0,-163-96 0,-2-51 0,-381-2 0,1113-1 0,-1168 5 0,594-55 0,-8-65 0,-254 35 0,-206 32 0,-7-25 0,-119 28-1365,-174 43-5461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9T13:34:36.1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 24575,'12'0'0,"124"-1"0,247 31 0,62 41 0,-438-70 0,0 0 0,0 1 0,0 0 0,-1 0 0,1 0 0,11 6 0,-16-6 0,1-1 0,-1 1 0,0 0 0,0 0 0,0 0 0,0 0 0,0 1 0,-1-1 0,1 0 0,-1 1 0,1-1 0,-1 1 0,0 0 0,0-1 0,0 1 0,0 0 0,-1 0 0,1 5 0,2 11 0,-2 0 0,0 0 0,-1 0 0,-1 0 0,-1 0 0,0 0 0,-1 0 0,-2-1 0,0 1 0,0-1 0,-2 0 0,0-1 0,-2 1 0,1-1 0,-17 21 0,7-11 0,-2-1 0,-2-1 0,-45 42 0,48-48-1365,6-3-5461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9T13:34:37.8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1320 24575,'270'1'0,"319"-3"0,-1-29 0,18-38 0,-6-47 0,-78-24 0,-5-22 0,839-389 0,-928 342-1365,-339 168-5461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9T13:34:39.8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53 24575,'431'-36'0,"-312"21"0,-116 15 0,0-1 0,-1 1 0,1 0 0,0 0 0,0 0 0,0 0 0,-1 1 0,1-1 0,0 1 0,0-1 0,-1 1 0,1 0 0,0 0 0,-1 1 0,4 1 0,-4-1 0,0-1 0,-1 1 0,1 0 0,-1-1 0,0 1 0,1 0 0,-1 0 0,0 0 0,0 0 0,0 0 0,-1 1 0,1-1 0,0 0 0,-1 0 0,1 1 0,-1-1 0,0 0 0,0 0 0,0 5 0,-1 5-1,0 1-1,0 0 0,-1-1 1,-1 0-1,0 1 1,-1-1-1,-5 12 0,-44 79 92,34-70-811,-15 37 0,25-45-6105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9T13:34:42.3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281 0 24575,'2'1'0,"1"0"0,-1 0 0,0 0 0,1 0 0,-1 0 0,0 0 0,0 0 0,0 1 0,0-1 0,0 1 0,0 0 0,-1-1 0,1 1 0,2 3 0,0 0 0,29 31 0,37 55 0,11 12 0,14-12 0,-94-91 0,-1 1 0,1-1 0,0 1 0,0 0 0,-1-1 0,1 1 0,0 0 0,-1-1 0,1 1 0,-1 0 0,1 0 0,-1-1 0,1 1 0,-1 0 0,0 0 0,1 0 0,-1 0 0,0 0 0,0 0 0,0 0 0,0-1 0,0 1 0,0 0 0,0 0 0,0 0 0,0 0 0,0 0 0,0 0 0,0 0 0,0 0 0,-1 0 0,1-1 0,-1 1 0,1 0 0,0 0 0,-1 0 0,1 0 0,-1-1 0,0 1 0,1 0 0,-1-1 0,1 1 0,-1 0 0,0-1 0,0 1 0,1-1 0,-1 1 0,-1 0 0,-6 3 0,0 0 0,0-1 0,0 0 0,-12 3 0,12-4 0,-176 36 0,140-31 0,1 1 0,-1 2 0,1 2 0,-75 32 0,78-24-1365,22-12-5461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9T16:06:32.69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96 265 24575,'3'45'0,"2"1"0,2-1 0,25 83 0,-20-83 0,53 167 0,-22-76 0,-42-133 0,0 0 0,1 0 0,0 0 0,-1 0 0,1 0 0,0 0 0,0-1 0,1 1 0,-1-1 0,1 1 0,-1-1 0,1 0 0,0 0 0,-1 0 0,1 0 0,0 0 0,0-1 0,1 1 0,-1-1 0,0 0 0,0 0 0,1 0 0,-1-1 0,4 1 0,11 2 0,0-2 0,0 0 0,26-2 0,-21 0 0,357-5 0,-368 6 0,0-1 0,0 0 0,0 0 0,-1-1 0,1-1 0,11-4 0,-16 5 0,0-1 0,-1 0 0,0 0 0,0-1 0,0 0 0,0 0 0,0-1 0,-1 1 0,0-1 0,0 0 0,7-10 0,26-42 0,53-113 0,-53 95 0,-21 42 0,195-357 0,-138 284 0,-46 67 0,-27 39 0,-1 0 0,0-1 0,1 1 0,-1 0 0,0 0 0,1-1 0,-1 1 0,0 0 0,0-1 0,1 1 0,-1-1 0,0 1 0,0 0 0,0-1 0,0 1 0,0-1 0,0 1 0,1 0 0,-1-1 0,0 1 0,0-1 0,0 1 0,0-1 0,0 1 0,0 0 0,-1-1 0,1 1 0,0-1 0,0 1 0,0 0 0,0-1 0,0 1 0,-1-1 0,1 1 0,0 0 0,0-1 0,-1 1 0,1 0 0,0-1 0,0 1 0,-1 0 0,1 0 0,0-1 0,-1 1 0,1 0 0,-1-1 0,-24-4 0,20 5 0,-85-5 0,-127 8 0,82 2 0,109-5 0,1 2 0,-1 1 0,0 0 0,1 2 0,0 1 0,0 1 0,0 2 0,1 0 0,-44 24 0,-283 181 0,286-166 0,59-43 0,1 1 0,-1-1 0,1 1 0,0 0 0,1 0 0,0 1 0,0 0 0,-4 8 0,7-14 0,0 0 0,1 0 0,-1 1 0,1-1 0,-1 0 0,1 1 0,0-1 0,-1 0 0,1 1 0,0-1 0,0 1 0,0-1 0,0 1 0,0-1 0,0 0 0,0 1 0,1-1 0,-1 0 0,0 1 0,1-1 0,-1 0 0,1 1 0,0-1 0,-1 0 0,1 0 0,0 1 0,0-1 0,0 0 0,-1 0 0,3 2 0,0-2 0,0 1 0,0-1 0,0 0 0,0 1 0,0-1 0,0-1 0,0 1 0,0 0 0,1-1 0,-1 0 0,0 0 0,0 0 0,1 0 0,2 0 0,16-3 0,1-1 0,-1-1 0,0-1 0,23-9 0,85-41 0,-100 42 0,176-92 0,20-8 0,-225 114 0,5-3 0,0 0 0,0 1 0,0-1 0,1 2 0,10-3 0,-16 4 0,1 0 0,0 0 0,-1 0 0,1 0 0,0 0 0,-1 1 0,1-1 0,-1 0 0,1 1 0,0 0 0,-1-1 0,1 1 0,-1 0 0,1 0 0,-1-1 0,0 1 0,1 0 0,-1 1 0,0-1 0,0 0 0,1 0 0,-1 0 0,0 1 0,0-1 0,-1 0 0,1 1 0,1 1 0,1 5 0,0 0 0,0 0 0,-1 0 0,0 0 0,0 1 0,-1-1 0,1 13 0,-4 66 0,-2-50 0,-1-1 0,-3 1 0,0-1 0,-2-1 0,-2 0 0,-1 0 0,-2-2 0,-1 1 0,-2-2 0,-1 0 0,-2-2 0,0 0 0,-2-1 0,-44 42 0,-56 45 0,-139 100 0,215-183 0,18-13 0,0 0 0,2 1 0,0 2 0,2 1 0,-28 34 0,19-8 0,-50 103 0,4-5 0,79-145 0,0-1 0,-1 1 0,1-1 0,-1 0 0,1 1 0,-1-1 0,0 0 0,0 0 0,0 0 0,0 0 0,0-1 0,-1 1 0,1-1 0,0 1 0,-1-1 0,1 0 0,-5 2 0,7-3 0,-1 0 0,0 0 0,0 0 0,1-1 0,-1 1 0,0 0 0,0 0 0,1 0 0,-1-1 0,0 1 0,1 0 0,-1-1 0,0 1 0,1-1 0,-1 1 0,1-1 0,-1 1 0,1-1 0,-1 1 0,1-1 0,-1 1 0,0-2 0,-10-27 0,7 1-227,1-1-1,1 0 1,2 1-1,0-1 1,9-51-1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9T16:06:34.65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594 308 24575,'-38'16'0,"-1"-1"0,-64 16 0,2-2 0,88-24 0,-17 5 0,-1 1 0,-39 21 0,61-26 0,0-1 0,0 1 0,1 1 0,0 0 0,0 0 0,0 0 0,1 1 0,0 0 0,1 1 0,0-1 0,-6 13 0,0 3 0,1 1 0,1 0 0,-11 46 0,59-272 0,-20 121 0,15-160 0,-32 223 0,-1 0 0,-1 0 0,0 0 0,-5-22 0,5 35 0,0 0 0,0 1 0,0-1 0,0 1 0,0-1 0,-1 1 0,0 0 0,0 0 0,1 0 0,-2 0 0,1 0 0,0 0 0,-1 0 0,1 1 0,-1-1 0,0 1 0,0-1 0,0 1 0,0 0 0,0 0 0,0 1 0,-1-1 0,1 1 0,0 0 0,-5-2 0,-27 1-1365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9T16:06:36.96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5 24575,'9'0'0,"4"-5"0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9T16:01:50.78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203 2260 24575,'-2'-1'0,"0"1"0,0-1 0,0 0 0,0 1 0,0-1 0,0 0 0,1 0 0,-1 0 0,0 0 0,1 0 0,-1-1 0,1 1 0,-1 0 0,1-1 0,0 1 0,-1-1 0,1 1 0,0-1 0,0 0 0,0 1 0,-1-4 0,-19-46 0,18 41 0,-22-58 0,-69-226 0,85 244 0,1 0 0,0-65 0,10-102 0,1 91 0,-2 109 0,-1 17 0,0 0 0,0 0 0,0 0 0,0 0 0,0 0 0,0 0 0,0 0 0,0 0 0,0 0 0,0 0 0,0 0 0,1 0 0,-1 0 0,0 0 0,0 0 0,0 0 0,0 0 0,0 0 0,0 0 0,0 0 0,0 0 0,0 0 0,0 0 0,0 0 0,0 0 0,0 0 0,0 0 0,0 0 0,0 0 0,0 0 0,0 0 0,1 0 0,-1 0 0,0 0 0,0 0 0,0 0 0,0 0 0,0 0 0,0 0 0,0 0 0,0 0 0,0 0 0,0 0 0,0-1 0,0 1 0,0 0 0,0 0 0,0 0 0,7 29 0,-1 1 0,22 78 0,-10-29 0,4-2 0,43 103 0,-62-173 0,2 0 0,-1 0 0,1 0 0,0-1 0,1 0 0,-1 0 0,1 0 0,1 0 0,-1-1 0,1 0 0,0-1 0,0 1 0,0-1 0,15 6 0,-5-4 0,-1 0 0,1-2 0,1 1 0,-1-2 0,32 2 0,-45-5 0,0 0 0,1 0 0,-1 0 0,0-1 0,0 1 0,0-1 0,0 0 0,0 0 0,0-1 0,0 1 0,0-1 0,0 0 0,-1 0 0,1 0 0,-1-1 0,1 1 0,-1-1 0,0 0 0,0 0 0,0 0 0,0 0 0,3-7 0,3-4 0,-1-1 0,-1 0 0,0-1 0,6-23 0,-7 22 0,55-182 0,40-231 0,-90 362 0,2-83 0,-11 832 0,7-580-41,3 0 0,5-1 0,31 101 0,109 276-281,-131-402 273,3 8-31,9 29 66,98 199 1,-136-309 13,1-1 0,-1 1 0,1-1 0,0 1 0,-1-1 0,1 0 0,0 1 0,0-1 0,0 0 0,0 0 0,0 0 0,0 1 0,0-1 0,1 0 0,-1-1 0,0 1 0,1 0 0,-1 0 0,3 1 0,-3-4 0,0 1 0,0-1 0,-1 0 0,1 0 0,0 1 0,-1-1 0,1 0 0,-1 0 0,0 0 0,1 1 0,-1-1 0,0 0 0,0 0 0,0 0 0,0 0 0,-1 0 0,1 1 0,-2-5 0,-6-43 131,-3 0 1,-1 1-1,-37-88 1,47 131-123,-260-604 125,-38 14-161,176 360 27,111 212 0,-21-32 0,1 2 0,-1-4 0,4-2 0,2-1 0,-29-91 0,42 79 0,3 0 0,3-1 0,1-135 0,10-258-1365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9T16:01:58.47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1 705 24575,'89'0'0,"287"-6"0,-276-1 0,177-36 0,-262 40 0,58-15 0,1 4 0,0 3 0,101-3 0,8 13 0,187 6 0,-340-3 0,-1 1 0,0 2 0,0 1 0,-1 1 0,0 1 0,0 2 0,0 0 0,-1 2 0,-1 1 0,0 1 0,-1 2 0,28 21 0,-20-10 0,34 24 0,117 120 0,-125-106 0,68 99 0,-108-139 0,12 20 0,-29-42 0,0 0 0,0 0 0,-1 0 0,1 1 0,-1-1 0,0 0 0,0 1 0,0-1 0,0 1 0,0 5 0,-1-8 0,0-1 0,0 0 0,-1 1 0,1-1 0,0 0 0,0 1 0,0-1 0,0 1 0,0-1 0,-1 0 0,1 1 0,0-1 0,0 0 0,0 0 0,-1 1 0,1-1 0,0 0 0,-1 1 0,1-1 0,0 0 0,0 0 0,-1 0 0,1 1 0,0-1 0,-1 0 0,1 0 0,-1 0 0,1 0 0,0 0 0,-1 0 0,1 0 0,0 1 0,-1-1 0,1 0 0,-1 0 0,1-1 0,0 1 0,-1 0 0,1 0 0,0 0 0,-1 0 0,1 0 0,-1 0 0,-7-3 0,0 0 0,1-1 0,-1 0 0,1 0 0,0 0 0,0-1 0,1 0 0,-1 0 0,-10-12 0,0 2 0,-219-202 0,46 41 0,124 116 0,26 21 0,-2 1 0,-2 3 0,-71-45 0,51 51 0,60 27 0,0 1 0,0 0 0,0 0 0,0 0 0,0 0 0,0 1 0,0-1 0,0 1 0,0 0 0,0 0 0,0 1 0,0-1 0,0 1 0,-5 1 0,9-2 0,0 0 0,-1 1 0,1-1 0,0 0 0,0 0 0,-1 0 0,1 0 0,0 1 0,0-1 0,-1 0 0,1 0 0,0 0 0,0 1 0,-1-1 0,1 0 0,0 1 0,0-1 0,0 0 0,0 0 0,0 1 0,-1-1 0,1 0 0,0 1 0,0-1 0,0 0 0,0 1 0,0-1 0,0 0 0,0 1 0,0-1 0,0 0 0,0 1 0,0-1 0,0 0 0,0 1 0,0-1 0,1 0 0,-1 0 0,0 1 0,0-1 0,11 14 0,-9-11 0,65 65 0,4-2 0,139 100 0,-131-108 0,-2 3 0,119 123 0,-171-155 0,0-1 0,2-2 0,57 43 0,-72-59 0,1 0 0,-1 0 0,-1 1 0,0 0 0,-1 1 0,0 1 0,12 19 0,49 103 0,-37-66 0,-8-8 0,-19-43 0,0-1 0,18 31 0,22 40 0,-17-28 0,39 92 0,0 0 0,283 475 0,-124-226 0,182 265 0,-361-597 0,103 112 0,75 45 0,-226-225 0,98 86 0,-98-86 0,0 0 0,0 0 0,0 0 0,0 0 0,0 0 0,1 0 0,-1 0 0,0 0 0,1-1 0,-1 1 0,0 0 0,1-1 0,-1 1 0,1-1 0,-1 0 0,1 1 0,-1-1 0,1 0 0,-1 0 0,1 0 0,-1 0 0,1 0 0,-1 0 0,1 0 0,-1-1 0,1 1 0,-1-1 0,1 1 0,-1-1 0,1 1 0,-1-1 0,0 0 0,1 0 0,-1 0 0,0 1 0,0-1 0,0 0 0,1-1 0,-1 1 0,0 0 0,0 0 0,1-2 0,3-7 0,0 0 0,0 0 0,-1 0 0,0 0 0,3-12 0,-3 7 0,41-130 0,32-193 0,-69 280 0,-2-1 0,-2 1 0,-3-1 0,-2 1 0,-4-1 0,-1 1 0,-3 0 0,-3 0 0,-2 1 0,-40-101 0,50 148 0,0 0 0,-1 1 0,0 0 0,0 0 0,-1 0 0,-7-8 0,10 14 0,0 0 0,-1 0 0,1 1 0,-1-1 0,1 1 0,-1 0 0,0 0 0,0 0 0,0 0 0,0 1 0,0 0 0,-1 0 0,1 0 0,0 0 0,-1 0 0,1 1 0,-5 0 0,-17 0 0,0 2 0,1 1 0,-1 1 0,1 1 0,-43 14 0,-118 56 0,181-72 0,0-1 0,0 1 0,0-1 0,1 1 0,-1 1 0,1-1 0,0 1 0,0-1 0,0 1 0,1 1 0,-1-1 0,1 0 0,0 1 0,0-1 0,0 1 0,1 0 0,-3 6 0,1 4 0,1 1 0,0-1 0,0 0 0,1 25 0,1-21 0,-5 17 0,6-36 0,0 0 0,0-1 0,0 1 0,0 0 0,0 0 0,0-1 0,-1 1 0,1 0 0,0 0 0,0 0 0,0-1 0,-1 1 0,1 0 0,0 0 0,0 0 0,-1-1 0,1 1 0,0 0 0,0 0 0,-1 0 0,1 0 0,0 0 0,0 0 0,-1-1 0,1 1 0,0 0 0,-1 0 0,1 0 0,0 0 0,0 0 0,-1 0 0,1 0 0,0 0 0,-1 1 0,1-1 0,0 0 0,0 0 0,-1 0 0,1 0 0,0 0 0,-1 0 0,1 0 0,0 1 0,0-1 0,0 0 0,-1 0 0,1 0 0,0 1 0,0-1 0,0 0 0,-1 0 0,1 0 0,0 1 0,0-1 0,0 0 0,0 1 0,0-1 0,-1 0 0,1 0 0,0 1 0,0-1 0,0 0 0,0 0 0,0 1 0,0-1 0,0 0 0,0 1 0,0-1 0,0 1 0,-8-16 0,0 0 0,-7-22 0,-171-446-342,49 122-237,70 191 188,-141-374 62,48-17 539,152 519 24,3 14 149,-13-40 0,15 59-335,-1 0 0,0 0 0,0 0 0,-1 1 0,0 0 0,0 0-1,-1 0 1,-8-8 0,-14-17-48,1-1 0,3-1 0,0-1 0,-24-52 0,12 22 0,-159-288 0,25 52 0,132 222 0,27 54 0,9 37 0,3 18 0,72 305 0,-49-236 0,433 1377-566,-435-1413 566,-3-8 0,27 56 0,-41-101 44,0-1 0,1 0 0,0-1 0,1 0 1,-1 0-1,13 10 0,-10-9 7,-1-1 1,-1 1-1,1 0 1,10 16-1,-14-18-51,-1 1 0,1-1 0,1 0 0,-1 0 0,1 0 0,0-1 0,1 0 0,9 8 0,-14-12 0,-1-1 0,0 0 0,0 1 0,1-1 0,-1 0 0,0 1 0,1-1 0,-1 0 0,0 0 0,1 1 0,-1-1 0,0 0 0,1 0 0,-1 0 0,1 0 0,-1 0 0,0 1 0,1-1 0,-1 0 0,1 0 0,-1 0 0,0 0 0,1 0 0,-1 0 0,1 0 0,-1 0 0,1 0 0,-1-1 0,0 1 0,1 0 0,-1 0 0,1 0 0,-1 0 0,0 0 0,1-1 0,-1 1 0,0 0 0,1 0 0,-1-1 0,0 1 0,1 0 0,-1-1 0,0 1 0,0 0 0,1-1 0,-1 1 0,0 0 0,0-1 0,0 1 0,0 0 0,1-1 0,-1 1 0,0-1 0,-4-36 0,-18-47 0,-5 0 0,-46-101 0,32 84 0,-170-410 0,-31 15 0,222 459 0,-21-40 0,-4 2 0,-65-85 0,-39-43 339,15 17-2043,85 124-5122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9T16:02:06.79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24575,'96'5'0,"0"4"0,95 22 0,-59-8 0,619 124 0,-684-133 0,1-2 0,0-4 0,1-2 0,78-4 0,266-5 95,-250 4-1555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26T22:08:52.17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2,'84'-1,"91"3,-148 1,40 12,-9-2,-6-3,-27-4,0-1,48 2,-39-7,-20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26T22:08:56.07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13,'460'0,"-340"-13,-89 13,-19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6T23:05:47.8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1607 2452 24575,'-6'0'0,"-1"1"0,1 0 0,-1 1 0,1 0 0,-1 0 0,1 0 0,-7 4 0,-15 5 0,-35 9 0,-2-3 0,0-2 0,-1-4 0,0-2 0,-1-3 0,-116-5 0,168-3 0,0-1 0,0 0 0,1-1 0,-1 0 0,1-1 0,0-1 0,0 0 0,1-1 0,-25-16 0,-2-7 0,-60-57 0,90 77 0,-35-34 0,2-2 0,-37-52 0,-63-108 0,61 85 0,39 62 0,18 27 0,2-2 0,-21-40 0,27 38 0,1-1 0,3 0 0,1-1 0,-10-53 0,13 36 0,3-1 0,0-83 0,6 93 0,8-60 0,-5 91 0,0-1 0,0 1 0,2 0 0,0 0 0,0 0 0,2 1 0,12-22 0,61-98 0,76-107 0,-56 116 0,-81 106 0,0 0 0,1 2 0,40-27 0,73-36 0,-111 68 0,25-15 0,2 3 0,0 2 0,1 2 0,1 2 0,1 2 0,1 3 0,58-7 0,-14 6-1365,-57 7-5461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6T23:05:49.9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 24575,'77'-2'0,"87"4"0,-157-1 0,0 0 0,0 1 0,-1-1 0,1 1 0,-1 1 0,0-1 0,1 1 0,-1 0 0,0 0 0,-1 1 0,12 8 0,-1 3 0,0 0 0,18 24 0,-7-8 0,-9-9 0,-1 0 0,-1 2 0,24 46 0,-31-51 0,8 28 0,-12-32 0,0 1 0,1-1 0,13 22 0,52 103 0,-40-72 0,-26-57 0,-1 1 0,0 0 0,-1 0 0,3 18 0,-4-17 0,0 0 0,1-1 0,1 1 0,6 13 0,-4-10 0,0 0 0,0 0 0,-2 1 0,0 0 0,-1-1 0,0 1 0,-2 1 0,0 16 0,-2 4 0,-2-1 0,-12 60 0,10-71-1365,1-3-5461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6T23:05:52.2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1 347 24575,'0'-5'0,"5"-5"0,1-7 0,4 1 0,5-2 0,0-3 0,2 3 0,-1-1 0,-5-1 0,-3-2 0,1-6 0,4-8 0,4 3 0,-1 2 0,-2 1 0,-5 7-8191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9T13:45:20.6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24575,'0'8'0,"0"-1"0,0 1 0,1-1 0,0 1 0,0 0 0,1-1 0,0 0 0,0 1 0,1-1 0,0 0 0,0 0 0,1 0 0,0-1 0,9 12 0,28 34 0,64 63 0,-22-27 0,377 408 0,37-46 0,-179-218 0,-117-89 0,-21-22 0,225 111 0,-197-118 0,146 105 0,-158-70 0,-128-94 0,99 63 0,-108-82 0,-2 3 0,-2 2 0,52 50 0,-6 13-1365,-79-86-5461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9T13:45:22.8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0 521 24575,'370'0'0,"-351"1"0,-17 0 0,1 0 0,-1-1 0,1 1 0,-1-1 0,1 0 0,-1 0 0,1 0 0,-1 0 0,1 0 0,-1-1 0,1 1 0,-1-1 0,0 1 0,1-1 0,-1 0 0,1 0 0,-1 0 0,0 0 0,0 0 0,0-1 0,0 1 0,0-1 0,3-2 0,-1-2 0,-1 0 0,0 0 0,-1 0 0,1-1 0,-1 1 0,0-1 0,-1 1 0,1-1 0,-2 0 0,2-12 0,-2-9 0,-5-35 0,4 57 0,-7-65-455,-4 1 0,-27-94 0,32 142-6371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9T13:45:27.5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1 200 24575,'28'1'0,"51"9"0,2 1 0,580-1 0,-405-13 0,-35 4 0,216-3 0,-134-22 0,-283 22 0,267-49 0,-71 10 0,518-55 0,-349 82-1365,-347 15-5461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9T13:45:30.2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24575,'427'0'0,"-413"0"0,0 0 0,-1 1 0,1 1 0,-1 0 0,23 7 0,-33-8 0,1 1 0,0-1 0,-1 1 0,1 0 0,-1-1 0,1 2 0,-1-1 0,0 0 0,0 1 0,0-1 0,0 1 0,0 0 0,-1 0 0,1 0 0,-1 0 0,0 1 0,0-1 0,0 1 0,0-1 0,0 1 0,-1-1 0,0 1 0,2 6 0,-1 5 0,0 1 0,-1-1 0,0 1 0,-1-1 0,-1 1 0,-6 29 0,5-35 0,-1 0 0,0-1 0,0 0 0,-1 1 0,-1-1 0,1-1 0,-1 1 0,-1-1 0,0 0 0,0 0 0,-13 13 0,11-12 0,1-1 0,0 1 0,0 0 0,1 1 0,1 0 0,-6 11 0,5-9 0,-1 1 0,0-1 0,-11 14 0,-23 30-1365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9T13:52:06.0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24575,'24'26'0,"34"49"0,-16-19 0,478 577 0,-501-612 0,452 487 0,-371-427-1365,-78-62-5461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9T13:52:07.7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0 542 24575,'0'2'0,"1"0"0,-1 0 0,1 0 0,-1 0 0,1 0 0,0 0 0,0 0 0,0 0 0,0 0 0,0 0 0,0 0 0,1 0 0,-1-1 0,0 1 0,1-1 0,-1 1 0,1-1 0,0 0 0,3 3 0,40 20 0,-37-20 0,107 47 0,178 54 0,-195-73 0,-50-15 0,98 20 0,-145-37 0,6 1 0,0 1 0,0-2 0,0 1 0,0-1 0,0 0 0,7-1 0,-11 0 0,0 0 0,0 0 0,0 0 0,-1 0 0,1-1 0,-1 1 0,1-1 0,-1 1 0,1-1 0,-1 0 0,0 0 0,1 0 0,-1 0 0,0-1 0,-1 1 0,1-1 0,0 1 0,1-4 0,11-21 0,-1-1 0,-2 0 0,0 0 0,6-34 0,22-125 0,-37 174 0,12-74-455,-4 0 0,-1-150 0,-10 206-6371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9T13:52:09.9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24575,'5'9'0,"1"0"0,0 0 0,0-1 0,1 0 0,1-1 0,11 12 0,0-2 0,258 216 0,24-19 0,-112-81 0,360 238 0,-439-292 123,-7-4-1611,-71-56-5338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9T13:52:14.1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1 531 24575,'479'0'0,"-475"0"0,0 0 0,1 0 0,-1 0 0,1-1 0,-1 0 0,0 0 0,0 0 0,1 0 0,-1-1 0,0 1 0,5-4 0,-6 3 0,-1 0 0,1 0 0,-1-1 0,0 1 0,0-1 0,0 1 0,0-1 0,0 0 0,-1 1 0,1-1 0,-1 0 0,1 0 0,-1 0 0,0 0 0,-1 0 0,2-5 0,2-14 6,-2 1-1,0-1 0,-1 0 1,-1 0-1,-5-34 1,-26-109-149,10 64-1112,15 65-5571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9T13:56:24.3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24575,'4'1'0,"1"0"0,-1 0 0,1 0 0,-1 0 0,0 1 0,1 0 0,-1 0 0,0 0 0,0 0 0,0 1 0,-1-1 0,1 1 0,-1 0 0,1 0 0,-1 0 0,4 6 0,5 3 0,111 92 0,217 141 0,-152-116 0,166 125 0,1728 1346-904,-1532-1114 904,-354-307 0,-171-156-96,-15-12-64,1-1 0,0 0 1,1-1-1,0-1 0,1 1 0,15 6 0,-8-8-5912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9T13:56:25.6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0 399 24575,'42'2'0,"-1"1"0,1 2 0,60 15 0,117 46 0,-121-34 0,-15-4 0,-33-10 0,68 15 0,-117-33 0,1 0 0,0 1 0,-1-1 0,1 0 0,-1 0 0,1 0 0,0 0 0,-1 0 0,1 0 0,0 0 0,-1-1 0,1 1 0,-1 0 0,1-1 0,-1 0 0,1 1 0,-1-1 0,1 0 0,-1 0 0,0 0 0,1 0 0,-1 0 0,0 0 0,0 0 0,1 0 0,-1 0 0,0 0 0,0-1 0,0 1 0,-1-1 0,1 1 0,0 0 0,0-1 0,-1 1 0,1-1 0,-1 0 0,0 1 0,1-1 0,-1 1 0,0-1 0,0-2 0,1-6 0,-1 1 0,0-1 0,0 0 0,-1 0 0,-5-18 0,-8-26 34,-3 0-1,-24-51 0,-55-102-984,81 177 437,-5-11-6312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9T14:04:30.3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3371 3452 24575,'-5'-1'0,"1"1"0,0-1 0,0 0 0,0 0 0,0-1 0,0 1 0,0-1 0,-5-2 0,-4-2 0,-883-451 0,820 411 0,2-3 0,3-4 0,-111-104 0,-157-217 0,188 196 0,-103-131 0,-303-469 0,298 411 0,-51-100 0,189 302-1365,96 132-5461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9T14:04:32.4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2 691 24575,'0'-570'0,"-1"552"0,1 10 0,-1-1 0,1 1 0,1 0 0,-1-1 0,2 1 0,-1 0 0,1 0 0,0 0 0,4-9 0,-6 16 0,1 0 0,0 0 0,-1 0 0,1 1 0,0-1 0,0 0 0,-1 1 0,1-1 0,0 0 0,0 1 0,0-1 0,0 1 0,0-1 0,0 1 0,-1 0 0,1-1 0,0 1 0,0 0 0,0 0 0,0 0 0,0 0 0,0 0 0,0 0 0,0 0 0,1 0 0,-1 0 0,0 0 0,0 0 0,-1 1 0,1-1 0,0 0 0,0 1 0,0-1 0,0 1 0,0-1 0,0 1 0,0-1 0,0 1 0,-1 0 0,1-1 0,1 2 0,35 31 0,-35-31 0,56 63 0,-26-29 0,1-1 0,59 48 0,44 11-1365,-118-82-5461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9T16:16:35.6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1052 24575,'144'-5'0,"0"-6"0,212-44 0,274-98 0,-571 137 0,727-222 0,-11-32 0,-514 177 0,205-91-1365,-413 158-5461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9T16:16:37.3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30 24575,'304'2'0,"326"-5"0,-592 2 0,-1-2 0,51-9 0,-80 9 0,-8 1 0,-16-2 0,-27 1 0,24 3 0,1 2 0,-1 0 0,1 1 0,0 1 0,0 0 0,-29 12 0,-101 52 0,145-66 0,-31 16 0,1 1 0,1 2 0,1 1 0,0 1 0,2 1 0,1 2 0,1 1 0,-29 39 0,36-44 45,-1 0-1,-25 20 1,-22 23-1544,53-48-5327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9T16:17:18.1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2120 507 24575,'-64'1'0,"1"-3"0,-116-19 0,-452-131 0,5-24 0,584 164 0,-302-75 0,324 81 45,-1 0-1,-21-10 1,-24-8-1544,45 18-5327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9T16:17:21.2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302 514 24575,'-1'-22'0,"-2"1"0,0 0 0,-1 0 0,-1 0 0,-1 0 0,-1 1 0,-1-1 0,0 2 0,-2-1 0,-20-32 0,-4 4 0,-2 0 0,-69-70 0,100 113 0,-1 0 0,0 0 0,0 1 0,-8-6 0,14 10 0,-1 0 0,1 0 0,0 0 0,0 0 0,0 0 0,0 0 0,-1 0 0,1 0 0,0 0 0,0 0 0,0 0 0,0 0 0,-1-1 0,1 1 0,0 0 0,0 0 0,0 0 0,0 0 0,0 0 0,-1 0 0,1 0 0,0-1 0,0 1 0,0 0 0,0 0 0,0 0 0,0 0 0,0 0 0,0-1 0,0 1 0,-1 0 0,1 0 0,0 0 0,0-1 0,0 1 0,0 0 0,0 0 0,0 0 0,0 0 0,0-1 0,0 1 0,0 0 0,0 0 0,0 0 0,1 0 0,-1-1 0,0 1 0,0 0 0,0 0 0,0 0 0,0 0 0,0-1 0,14-2 0,30 2 0,-37 1 0,529 5-1365,-465-5-5461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4T20:22:38.5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24575,'0'4'0,"1"-1"0,-1 1 0,1-1 0,0 1 0,-1-1 0,2 0 0,-1 1 0,0-1 0,1 0 0,-1 0 0,1 0 0,0 0 0,0 0 0,2 2 0,8 12 0,43 68 0,87 101 0,83 69 0,-154-176 0,663 767 0,-550-638 0,34 41 0,127 148 0,-228-273 0,-44-45 0,82 69 0,137 90 0,-256-209 0,24 21 0,-41-32 0,34 24 0,4 4 0,-22-18 0,0-2 0,51 29 0,47 34 0,-80-49 0,1-2 0,2-3 0,64 30 0,177 81 0,-287-140-66,0 0-1,0 1 1,15 14 0,-13-11-1034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4T20:22:40.2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0 692 24575,'668'0'0,"-659"0"0,1 2 0,-1-1 0,0 1 0,12 4 0,-15-4 0,0 0 0,1 0 0,0 0 0,-1-1 0,1 0 0,0-1 0,-1 1 0,1-1 0,9-1 0,-14 0 0,0-1 0,1 1 0,-1 0 0,-1-1 0,1 1 0,0-1 0,0 0 0,0 0 0,-1 1 0,1-1 0,-1 0 0,0 0 0,1-1 0,-1 1 0,0 0 0,0 0 0,0 0 0,-1-1 0,1 1 0,0 0 0,-1-1 0,0 1 0,1-5 0,-1 5 0,7-36 0,-2 0 0,-1-1 0,-3 0 0,-4-69 0,-4 45 0,-3 0 0,-20-72 0,-13 14-1365,39 105-5461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4T20:22:42.3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24575,'46'828'0,"-31"-638"0,-5 20 0,-7-101 0,24 151 0,14 7 0,10 50 0,-41-259 0,3 108 0,-15 62 0,-1-78 0,3 404 0,-3-497-131,-3 0-1,-15 67 0,13-81-838,4-19-5856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4T20:22:46.6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3 24575,'0'5'0,"-1"40"0,1-1 0,3 0 0,1-1 0,20 83 0,-5-71 0,44 87 0,-54-122 0,-1 3 0,-7-19 0,-1 0 0,1-1 0,0 1 0,1-1 0,-1 1 0,1-1 0,-1 0 0,1 1 0,0-1 0,0 0 0,0 0 0,5 4 0,-6-7 0,0 1 0,1-1 0,-1 0 0,0 0 0,0 0 0,1 0 0,-1 0 0,0 0 0,0 0 0,1-1 0,-1 1 0,0 0 0,0-1 0,0 1 0,1-1 0,-1 1 0,0-1 0,0 0 0,0 1 0,0-1 0,1-1 0,23-20 0,-22 19 0,41-39 0,-16 17 0,-2-1 0,0-2 0,-2 0 0,22-34 0,-38 50 0,1 0 0,1 1 0,0 1 0,0 0 0,14-11 0,30-30 0,47-57 0,-13 5-1365,-74 87-5461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4T20:22:48.9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2433 0 24575,'-1'24'0,"-1"0"0,-1-1 0,-1 1 0,-1-1 0,-9 26 0,-49 109 0,38-98 0,-303 642 0,202-460 0,-129 235 0,213-404 0,-184 314 0,-27-20 0,166-261 0,-4-4 0,-4-5 0,-5-3 0,-130 93 0,201-167 0,-36 18 0,38-24 0,-49 36 0,-22 39 0,65-56 0,-57 42 0,43-35-1365,29-22-5461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4T20:22:50.6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50 1 24575,'-4'88'0,"-21"118"0,12-106 0,8-62 0,3 0 0,3 63 0,0-98 0,-1-1 0,1 1 0,0 0 0,-1 0 0,1-1 0,0 1 0,1-1 0,-1 1 0,0-1 0,1 0 0,-1 1 0,1-1 0,0 0 0,0 0 0,0 0 0,0 0 0,0 0 0,0-1 0,0 1 0,1-1 0,-1 1 0,1-1 0,-1 0 0,1 0 0,-1 0 0,1 0 0,0 0 0,0-1 0,-1 1 0,1-1 0,4 1 0,13 0 0,-1 0 0,0-1 0,32-5 0,-21 2 0,636-9-387,-540 13-591,-102-1-5848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6AB85-A485-66FF-88B6-2D8E40625F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5714BC-DD20-B3B9-4165-8306C1D51B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3A9FB7-9B02-4E11-4959-E1FE7EF90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7924-099F-4094-BDB3-CD57C5B45D1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B41168-3114-C12E-E23F-F635F97DC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33FA82-AACF-0BF5-2B5E-BAAC1E9A9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04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98F24-99BE-E5CE-431C-B95CF2F96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48589-3D6D-5C33-46C6-BA12BDDA55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8C2900-550C-620C-FEF8-C5A09DC98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7924-099F-4094-BDB3-CD57C5B45D1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6157B0-633C-EB86-959C-E5D11EC19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52D4F1-433B-F374-C00A-D3FAE71C5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807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CA01B-F66A-443E-E19F-19FBE7F2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69C2AE-AE5B-971B-C7AD-68A297E01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62B7ED-D94C-8F16-FF7B-5DAC04324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7924-099F-4094-BDB3-CD57C5B45D1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79C466-8D95-DDA2-AAFC-BDCE42B7B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1DF52B-3BF2-5E85-F266-22EAE98C0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640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CCB09-F70E-97ED-600C-5665836B5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DE474-FDE0-759C-E3B2-F8C273A1F9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BE2DFE-AC4C-3F1C-D9A1-9314947947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978FAA-6858-6142-1F26-13795A4EE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7924-099F-4094-BDB3-CD57C5B45D1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CC7F70-611E-33BE-F822-6228E7FEB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C30888-2A12-2E36-51D6-1BA3CFFB5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382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24C2F-7D13-531C-F6A2-450488128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AB5256-36C3-0815-5F67-6DBF70BDC2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D06AE4-E4CB-A853-18C7-3DBF5580A5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DE2957-0FAA-236A-7325-1265280D1F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8F4523-3D54-83D9-E2BF-BEABCC5EA4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70EC1F-B04F-C190-D4D1-EB940422F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7924-099F-4094-BDB3-CD57C5B45D1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CC8352-670A-8DA6-9D2D-5A194074E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894EB7-A2E3-F391-9D4B-BFDFE0036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664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44DC3-B3C9-8EEE-9C58-379205F4E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9200DB-0340-A725-FCDE-D8988CC3C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7924-099F-4094-BDB3-CD57C5B45D1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968FB0-36DD-5A9D-F034-84C754C37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CA3611-C177-62B6-B869-91901C67A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681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00A391-DCCA-D00C-BB9B-F97F42370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7924-099F-4094-BDB3-CD57C5B45D1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4D665F-A389-5C5D-88C0-2E794981D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E50247-479F-676E-080F-5FEE716D3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896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B7D90-EBCA-BED2-577F-9C797FA4E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B52F7-B3DD-0D52-74FA-81303DA0C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9C37E6-81A3-BF8F-F6C7-8406DCE295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2D7BB6-5010-0DF4-797C-E955CED4D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7924-099F-4094-BDB3-CD57C5B45D1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1170D3-A83A-BAA3-8E47-18CB5233C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AAEE53-41D5-C470-7847-7932CE994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323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554E4-E87C-13C3-3C22-08A7C8ABB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ADC182-C212-E29D-9A31-A2A1E46A31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6DB46C-FC97-B397-6E4B-B6D931BC69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FB7F92-1C35-24DE-8013-2DAB8814A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7924-099F-4094-BDB3-CD57C5B45D1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CD823E-9251-B1F8-916F-B488A4CCB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8218C3-43C0-4A71-8BA9-1C7B810B5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877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75D60-02ED-3023-B50F-5984B7962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25C278-82F2-6B06-C417-60CD04BD97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8971DB-BAB0-EECD-C58C-2B4D452DB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7924-099F-4094-BDB3-CD57C5B45D1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6EB408-BCC2-A739-C158-9714BC404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1B9879-00FE-82CA-4DA6-B9B5042AC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460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25F75F-DC88-B564-DD9D-BB42B2AF63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2EE312-C991-FF98-4F3E-497F89E9FC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5FADDD-C052-BFF1-EA37-30F13E2E1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7924-099F-4094-BDB3-CD57C5B45D1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E03930-C641-2FC7-1F88-EB3FA0F76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8AA47-01FF-6812-B569-E67B102CE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212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9DC7F3-FE36-79BE-63BA-A0D9CB468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63005D-8BC5-076A-DA7D-978F5FFE41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C2215A-BE23-E07E-25E1-617E2EDFB9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977924-099F-4094-BDB3-CD57C5B45D1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A0006-1E9E-68F4-4E24-60A041784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B09B5E-6F1E-2EA7-62C1-6B2AEC9040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335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hyperlink" Target="https://www.youtube.com/watch?v=pAwjiGkafbM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hyperlink" Target="https://www.youtube.com/watch?v=pAwjiGkafbM" TargetMode="Externa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customXml" Target="../ink/ink7.xml"/><Relationship Id="rId3" Type="http://schemas.openxmlformats.org/officeDocument/2006/relationships/customXml" Target="../ink/ink2.xml"/><Relationship Id="rId7" Type="http://schemas.openxmlformats.org/officeDocument/2006/relationships/customXml" Target="../ink/ink4.xml"/><Relationship Id="rId12" Type="http://schemas.openxmlformats.org/officeDocument/2006/relationships/image" Target="../media/image40.png"/><Relationship Id="rId2" Type="http://schemas.openxmlformats.org/officeDocument/2006/relationships/image" Target="../media/image36.png"/><Relationship Id="rId16" Type="http://schemas.openxmlformats.org/officeDocument/2006/relationships/hyperlink" Target="https://www.youtube.com/watch?v=pAwjiGkafbM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customXml" Target="../ink/ink6.xml"/><Relationship Id="rId5" Type="http://schemas.openxmlformats.org/officeDocument/2006/relationships/customXml" Target="../ink/ink3.xml"/><Relationship Id="rId15" Type="http://schemas.openxmlformats.org/officeDocument/2006/relationships/image" Target="../media/image42.png"/><Relationship Id="rId10" Type="http://schemas.openxmlformats.org/officeDocument/2006/relationships/image" Target="../media/image39.png"/><Relationship Id="rId4" Type="http://schemas.openxmlformats.org/officeDocument/2006/relationships/image" Target="../media/image360.png"/><Relationship Id="rId9" Type="http://schemas.openxmlformats.org/officeDocument/2006/relationships/customXml" Target="../ink/ink5.xml"/><Relationship Id="rId14" Type="http://schemas.openxmlformats.org/officeDocument/2006/relationships/image" Target="../media/image4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hyperlink" Target="https://www.youtube.com/watch?v=pAwjiGkafbM" TargetMode="External"/><Relationship Id="rId3" Type="http://schemas.openxmlformats.org/officeDocument/2006/relationships/image" Target="../media/image44.png"/><Relationship Id="rId7" Type="http://schemas.openxmlformats.org/officeDocument/2006/relationships/customXml" Target="../ink/ink9.xml"/><Relationship Id="rId12" Type="http://schemas.openxmlformats.org/officeDocument/2006/relationships/image" Target="../media/image50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11" Type="http://schemas.openxmlformats.org/officeDocument/2006/relationships/image" Target="../media/image49.png"/><Relationship Id="rId5" Type="http://schemas.openxmlformats.org/officeDocument/2006/relationships/customXml" Target="../ink/ink8.xml"/><Relationship Id="rId10" Type="http://schemas.openxmlformats.org/officeDocument/2006/relationships/image" Target="../media/image48.png"/><Relationship Id="rId4" Type="http://schemas.openxmlformats.org/officeDocument/2006/relationships/image" Target="../media/image45.png"/><Relationship Id="rId9" Type="http://schemas.openxmlformats.org/officeDocument/2006/relationships/customXml" Target="../ink/ink10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5.png"/><Relationship Id="rId7" Type="http://schemas.openxmlformats.org/officeDocument/2006/relationships/customXml" Target="../ink/ink12.xml"/><Relationship Id="rId12" Type="http://schemas.openxmlformats.org/officeDocument/2006/relationships/image" Target="../media/image56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11" Type="http://schemas.openxmlformats.org/officeDocument/2006/relationships/image" Target="../media/image55.png"/><Relationship Id="rId5" Type="http://schemas.openxmlformats.org/officeDocument/2006/relationships/customXml" Target="../ink/ink11.xml"/><Relationship Id="rId10" Type="http://schemas.openxmlformats.org/officeDocument/2006/relationships/image" Target="../media/image54.png"/><Relationship Id="rId4" Type="http://schemas.openxmlformats.org/officeDocument/2006/relationships/image" Target="../media/image51.png"/><Relationship Id="rId9" Type="http://schemas.openxmlformats.org/officeDocument/2006/relationships/customXml" Target="../ink/ink13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59.png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58.png"/><Relationship Id="rId5" Type="http://schemas.openxmlformats.org/officeDocument/2006/relationships/hyperlink" Target="https://medium.com/intuition/singular-value-decomposition-svd-working-example-c2b6135673b5" TargetMode="External"/><Relationship Id="rId4" Type="http://schemas.openxmlformats.org/officeDocument/2006/relationships/image" Target="../media/image5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7" Type="http://schemas.openxmlformats.org/officeDocument/2006/relationships/image" Target="../media/image65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5.xml"/><Relationship Id="rId5" Type="http://schemas.openxmlformats.org/officeDocument/2006/relationships/image" Target="../media/image64.png"/><Relationship Id="rId4" Type="http://schemas.openxmlformats.org/officeDocument/2006/relationships/customXml" Target="../ink/ink14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65.jpeg"/><Relationship Id="rId7" Type="http://schemas.openxmlformats.org/officeDocument/2006/relationships/customXml" Target="../ink/ink17.xml"/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5" Type="http://schemas.openxmlformats.org/officeDocument/2006/relationships/customXml" Target="../ink/ink16.xml"/><Relationship Id="rId10" Type="http://schemas.openxmlformats.org/officeDocument/2006/relationships/image" Target="../media/image71.png"/><Relationship Id="rId4" Type="http://schemas.openxmlformats.org/officeDocument/2006/relationships/image" Target="../media/image66.jpeg"/><Relationship Id="rId9" Type="http://schemas.openxmlformats.org/officeDocument/2006/relationships/customXml" Target="../ink/ink1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customXml" Target="../ink/ink21.xml"/><Relationship Id="rId13" Type="http://schemas.openxmlformats.org/officeDocument/2006/relationships/image" Target="../media/image75.png"/><Relationship Id="rId18" Type="http://schemas.openxmlformats.org/officeDocument/2006/relationships/customXml" Target="../ink/ink25.xml"/><Relationship Id="rId3" Type="http://schemas.openxmlformats.org/officeDocument/2006/relationships/image" Target="../media/image73.png"/><Relationship Id="rId21" Type="http://schemas.openxmlformats.org/officeDocument/2006/relationships/image" Target="../media/image700.png"/><Relationship Id="rId7" Type="http://schemas.openxmlformats.org/officeDocument/2006/relationships/image" Target="../media/image620.png"/><Relationship Id="rId12" Type="http://schemas.openxmlformats.org/officeDocument/2006/relationships/image" Target="../media/image74.png"/><Relationship Id="rId17" Type="http://schemas.openxmlformats.org/officeDocument/2006/relationships/image" Target="../media/image680.png"/><Relationship Id="rId2" Type="http://schemas.openxmlformats.org/officeDocument/2006/relationships/image" Target="../media/image72.png"/><Relationship Id="rId16" Type="http://schemas.openxmlformats.org/officeDocument/2006/relationships/customXml" Target="../ink/ink24.xml"/><Relationship Id="rId20" Type="http://schemas.openxmlformats.org/officeDocument/2006/relationships/customXml" Target="../ink/ink2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0.xml"/><Relationship Id="rId11" Type="http://schemas.openxmlformats.org/officeDocument/2006/relationships/image" Target="../media/image640.png"/><Relationship Id="rId5" Type="http://schemas.openxmlformats.org/officeDocument/2006/relationships/image" Target="../media/image610.png"/><Relationship Id="rId15" Type="http://schemas.openxmlformats.org/officeDocument/2006/relationships/image" Target="../media/image670.png"/><Relationship Id="rId10" Type="http://schemas.openxmlformats.org/officeDocument/2006/relationships/customXml" Target="../ink/ink22.xml"/><Relationship Id="rId19" Type="http://schemas.openxmlformats.org/officeDocument/2006/relationships/image" Target="../media/image690.png"/><Relationship Id="rId4" Type="http://schemas.openxmlformats.org/officeDocument/2006/relationships/customXml" Target="../ink/ink19.xml"/><Relationship Id="rId9" Type="http://schemas.openxmlformats.org/officeDocument/2006/relationships/image" Target="../media/image630.png"/><Relationship Id="rId14" Type="http://schemas.openxmlformats.org/officeDocument/2006/relationships/customXml" Target="../ink/ink23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customXml" Target="../ink/ink27.xml"/><Relationship Id="rId7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0.png"/><Relationship Id="rId5" Type="http://schemas.openxmlformats.org/officeDocument/2006/relationships/customXml" Target="../ink/ink28.xml"/><Relationship Id="rId4" Type="http://schemas.openxmlformats.org/officeDocument/2006/relationships/image" Target="../media/image720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0.png"/><Relationship Id="rId3" Type="http://schemas.openxmlformats.org/officeDocument/2006/relationships/image" Target="../media/image80.png"/><Relationship Id="rId7" Type="http://schemas.openxmlformats.org/officeDocument/2006/relationships/customXml" Target="../ink/ink30.xml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0.png"/><Relationship Id="rId5" Type="http://schemas.openxmlformats.org/officeDocument/2006/relationships/customXml" Target="../ink/ink29.xml"/><Relationship Id="rId4" Type="http://schemas.openxmlformats.org/officeDocument/2006/relationships/image" Target="../media/image81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0.png"/><Relationship Id="rId13" Type="http://schemas.openxmlformats.org/officeDocument/2006/relationships/image" Target="../media/image85.png"/><Relationship Id="rId3" Type="http://schemas.openxmlformats.org/officeDocument/2006/relationships/image" Target="../media/image83.png"/><Relationship Id="rId7" Type="http://schemas.openxmlformats.org/officeDocument/2006/relationships/customXml" Target="../ink/ink32.xml"/><Relationship Id="rId12" Type="http://schemas.openxmlformats.org/officeDocument/2006/relationships/image" Target="../media/image87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0.png"/><Relationship Id="rId11" Type="http://schemas.openxmlformats.org/officeDocument/2006/relationships/customXml" Target="../ink/ink34.xml"/><Relationship Id="rId5" Type="http://schemas.openxmlformats.org/officeDocument/2006/relationships/customXml" Target="../ink/ink31.xml"/><Relationship Id="rId10" Type="http://schemas.openxmlformats.org/officeDocument/2006/relationships/image" Target="../media/image860.png"/><Relationship Id="rId4" Type="http://schemas.openxmlformats.org/officeDocument/2006/relationships/image" Target="../media/image84.png"/><Relationship Id="rId9" Type="http://schemas.openxmlformats.org/officeDocument/2006/relationships/customXml" Target="../ink/ink3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2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0.png"/><Relationship Id="rId13" Type="http://schemas.openxmlformats.org/officeDocument/2006/relationships/customXml" Target="../ink/ink39.xml"/><Relationship Id="rId3" Type="http://schemas.openxmlformats.org/officeDocument/2006/relationships/image" Target="../media/image94.png"/><Relationship Id="rId7" Type="http://schemas.openxmlformats.org/officeDocument/2006/relationships/customXml" Target="../ink/ink36.xml"/><Relationship Id="rId12" Type="http://schemas.openxmlformats.org/officeDocument/2006/relationships/image" Target="../media/image270.png"/><Relationship Id="rId17" Type="http://schemas.openxmlformats.org/officeDocument/2006/relationships/image" Target="../media/image96.png"/><Relationship Id="rId2" Type="http://schemas.openxmlformats.org/officeDocument/2006/relationships/image" Target="../media/image93.png"/><Relationship Id="rId16" Type="http://schemas.openxmlformats.org/officeDocument/2006/relationships/image" Target="../media/image2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0.png"/><Relationship Id="rId11" Type="http://schemas.openxmlformats.org/officeDocument/2006/relationships/customXml" Target="../ink/ink38.xml"/><Relationship Id="rId5" Type="http://schemas.openxmlformats.org/officeDocument/2006/relationships/customXml" Target="../ink/ink35.xml"/><Relationship Id="rId15" Type="http://schemas.openxmlformats.org/officeDocument/2006/relationships/customXml" Target="../ink/ink40.xml"/><Relationship Id="rId10" Type="http://schemas.openxmlformats.org/officeDocument/2006/relationships/image" Target="../media/image260.png"/><Relationship Id="rId4" Type="http://schemas.openxmlformats.org/officeDocument/2006/relationships/image" Target="../media/image95.png"/><Relationship Id="rId9" Type="http://schemas.openxmlformats.org/officeDocument/2006/relationships/customXml" Target="../ink/ink37.xml"/><Relationship Id="rId14" Type="http://schemas.openxmlformats.org/officeDocument/2006/relationships/image" Target="../media/image280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1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4.png"/><Relationship Id="rId4" Type="http://schemas.openxmlformats.org/officeDocument/2006/relationships/image" Target="../media/image10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7" Type="http://schemas.openxmlformats.org/officeDocument/2006/relationships/image" Target="../media/image113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2.png"/><Relationship Id="rId5" Type="http://schemas.openxmlformats.org/officeDocument/2006/relationships/image" Target="../media/image111.png"/><Relationship Id="rId4" Type="http://schemas.openxmlformats.org/officeDocument/2006/relationships/image" Target="../media/image110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9.png"/><Relationship Id="rId5" Type="http://schemas.openxmlformats.org/officeDocument/2006/relationships/image" Target="../media/image118.png"/><Relationship Id="rId4" Type="http://schemas.openxmlformats.org/officeDocument/2006/relationships/image" Target="../media/image117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4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A87E9-1A2B-E074-95D6-F62A25193F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Bazele</a:t>
            </a:r>
            <a:r>
              <a:rPr lang="en-US" dirty="0"/>
              <a:t> </a:t>
            </a:r>
            <a:r>
              <a:rPr lang="en-US" dirty="0" err="1"/>
              <a:t>inteligenței</a:t>
            </a:r>
            <a:r>
              <a:rPr lang="en-US" dirty="0"/>
              <a:t> </a:t>
            </a:r>
            <a:r>
              <a:rPr lang="en-US" dirty="0" err="1"/>
              <a:t>artificiale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37E701-8695-5CB0-A905-07547C6513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Laborator</a:t>
            </a:r>
            <a:r>
              <a:rPr lang="en-US" dirty="0"/>
              <a:t> – Grigore </a:t>
            </a:r>
            <a:r>
              <a:rPr lang="en-US" dirty="0" err="1"/>
              <a:t>Ionuț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46443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9AB002F-CA8B-2609-9C7E-E7F898FFA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644" y="113015"/>
            <a:ext cx="4758996" cy="6444688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0E1247A-126A-D5ED-0D80-96CDF7BF64B1}"/>
              </a:ext>
            </a:extLst>
          </p:cNvPr>
          <p:cNvCxnSpPr>
            <a:cxnSpLocks/>
          </p:cNvCxnSpPr>
          <p:nvPr/>
        </p:nvCxnSpPr>
        <p:spPr>
          <a:xfrm flipV="1">
            <a:off x="3920067" y="2675467"/>
            <a:ext cx="3115733" cy="12446"/>
          </a:xfrm>
          <a:prstGeom prst="line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06EACB9-4E76-88BD-479B-ABA628C15568}"/>
              </a:ext>
            </a:extLst>
          </p:cNvPr>
          <p:cNvSpPr txBox="1"/>
          <p:nvPr/>
        </p:nvSpPr>
        <p:spPr>
          <a:xfrm>
            <a:off x="7175362" y="2490801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today’s lab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1A6ABDD-4729-7F93-832E-F764FAF194C7}"/>
                  </a:ext>
                </a:extLst>
              </p14:cNvPr>
              <p14:cNvContentPartPr/>
              <p14:nvPr/>
            </p14:nvContentPartPr>
            <p14:xfrm>
              <a:off x="727227" y="2480840"/>
              <a:ext cx="3100320" cy="4410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1A6ABDD-4729-7F93-832E-F764FAF194C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9227" y="2462840"/>
                <a:ext cx="3135960" cy="476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50234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7B10DDF-F4F1-5343-2427-B45299B9E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0983"/>
            <a:ext cx="12192000" cy="2936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535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A87E9-1A2B-E074-95D6-F62A25193F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9867" y="660400"/>
            <a:ext cx="4665134" cy="851430"/>
          </a:xfrm>
        </p:spPr>
        <p:txBody>
          <a:bodyPr>
            <a:normAutofit fontScale="90000"/>
          </a:bodyPr>
          <a:lstStyle/>
          <a:p>
            <a:r>
              <a:rPr lang="en-US" dirty="0"/>
              <a:t>Content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370850-9648-B248-267C-6CCDCAE18C14}"/>
              </a:ext>
            </a:extLst>
          </p:cNvPr>
          <p:cNvSpPr txBox="1"/>
          <p:nvPr/>
        </p:nvSpPr>
        <p:spPr>
          <a:xfrm>
            <a:off x="1566334" y="2345265"/>
            <a:ext cx="981286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The curse of dimensionality - intro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Principal component analysis (PCA)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Locally linear embedding (LLE)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t-Distributed stochastic neighbor embedding (t-SNE)</a:t>
            </a:r>
          </a:p>
        </p:txBody>
      </p:sp>
    </p:spTree>
    <p:extLst>
      <p:ext uri="{BB962C8B-B14F-4D97-AF65-F5344CB8AC3E}">
        <p14:creationId xmlns:p14="http://schemas.microsoft.com/office/powerpoint/2010/main" val="490482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A87E9-1A2B-E074-95D6-F62A25193F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3667" y="1308629"/>
            <a:ext cx="9465733" cy="2387600"/>
          </a:xfrm>
        </p:spPr>
        <p:txBody>
          <a:bodyPr>
            <a:normAutofit/>
          </a:bodyPr>
          <a:lstStyle/>
          <a:p>
            <a:r>
              <a:rPr lang="en-US" dirty="0"/>
              <a:t>1) </a:t>
            </a:r>
            <a:r>
              <a:rPr lang="en-US" sz="6000" dirty="0"/>
              <a:t>The curse of dimensionality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0546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5279D-D8BD-AD8D-DC9D-65F80601B9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666" y="233892"/>
            <a:ext cx="11446933" cy="4351338"/>
          </a:xfrm>
        </p:spPr>
        <p:txBody>
          <a:bodyPr/>
          <a:lstStyle/>
          <a:p>
            <a:r>
              <a:rPr lang="en-US" dirty="0"/>
              <a:t>many machine learning problems involve thousands or even millions of features for each training instance</a:t>
            </a:r>
          </a:p>
          <a:p>
            <a:endParaRPr lang="en-US" dirty="0"/>
          </a:p>
          <a:p>
            <a:r>
              <a:rPr lang="en-US" dirty="0"/>
              <a:t>all these features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1C49C7-A244-5543-761C-EECA5C8C0562}"/>
              </a:ext>
            </a:extLst>
          </p:cNvPr>
          <p:cNvSpPr txBox="1"/>
          <p:nvPr/>
        </p:nvSpPr>
        <p:spPr>
          <a:xfrm>
            <a:off x="3805766" y="1315647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make training extremely slow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6C5FE2-87F0-EC6A-E3A0-D56E6367299F}"/>
              </a:ext>
            </a:extLst>
          </p:cNvPr>
          <p:cNvSpPr txBox="1"/>
          <p:nvPr/>
        </p:nvSpPr>
        <p:spPr>
          <a:xfrm>
            <a:off x="3772322" y="1838867"/>
            <a:ext cx="77554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make it much harder to find a good solution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D39AFFB-62E9-EF70-C5E8-B6CD710B29AC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3492922" y="1577257"/>
            <a:ext cx="312844" cy="3023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19BC909-13FE-FD04-0072-AC112BE201F7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3492922" y="1879600"/>
            <a:ext cx="279400" cy="2208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ight Brace 16">
            <a:extLst>
              <a:ext uri="{FF2B5EF4-FFF2-40B4-BE49-F238E27FC236}">
                <a16:creationId xmlns:a16="http://schemas.microsoft.com/office/drawing/2014/main" id="{8AE668EB-4605-6B56-FECD-7B267619EC8F}"/>
              </a:ext>
            </a:extLst>
          </p:cNvPr>
          <p:cNvSpPr/>
          <p:nvPr/>
        </p:nvSpPr>
        <p:spPr>
          <a:xfrm>
            <a:off x="10559329" y="1447800"/>
            <a:ext cx="159471" cy="791941"/>
          </a:xfrm>
          <a:prstGeom prst="rightBrac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CD24F344-4952-00A9-AAC6-3F72E35D67B4}"/>
              </a:ext>
            </a:extLst>
          </p:cNvPr>
          <p:cNvSpPr/>
          <p:nvPr/>
        </p:nvSpPr>
        <p:spPr>
          <a:xfrm>
            <a:off x="10967635" y="1637284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ECED4407-F085-EC64-DA89-3025D76EBF15}"/>
              </a:ext>
            </a:extLst>
          </p:cNvPr>
          <p:cNvSpPr/>
          <p:nvPr/>
        </p:nvSpPr>
        <p:spPr>
          <a:xfrm>
            <a:off x="279401" y="2570816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09B2D6F-8E94-B425-7F42-C99BD1CDE6D5}"/>
              </a:ext>
            </a:extLst>
          </p:cNvPr>
          <p:cNvSpPr txBox="1"/>
          <p:nvPr/>
        </p:nvSpPr>
        <p:spPr>
          <a:xfrm>
            <a:off x="1257809" y="254496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highlight>
                  <a:srgbClr val="FFFF00"/>
                </a:highlight>
              </a:rPr>
              <a:t>the curse of dimensionality</a:t>
            </a:r>
            <a:r>
              <a:rPr lang="en-US" sz="2800" dirty="0">
                <a:highlight>
                  <a:srgbClr val="FFFF00"/>
                </a:highlight>
              </a:rPr>
              <a:t> </a:t>
            </a:r>
            <a:r>
              <a:rPr lang="en-US" sz="2800" dirty="0"/>
              <a:t>!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6A464F71-6763-5C5B-30E7-E3E96BA298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9973" y="3182232"/>
            <a:ext cx="3764698" cy="3675768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8B349E4B-B6B4-33B4-4157-E536D6F1F1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2322" y="3193551"/>
            <a:ext cx="6557984" cy="184918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687C5B1E-7795-63DC-9D80-5EB4294341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5766" y="4995158"/>
            <a:ext cx="6496261" cy="1852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115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graph of a graph of a triangle&#10;&#10;Description automatically generated with medium confidence">
            <a:extLst>
              <a:ext uri="{FF2B5EF4-FFF2-40B4-BE49-F238E27FC236}">
                <a16:creationId xmlns:a16="http://schemas.microsoft.com/office/drawing/2014/main" id="{6E138444-CD1D-300B-A796-15AC83FC24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3207" y="1958321"/>
            <a:ext cx="5499698" cy="2928588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graph of mathematical equations&#10;&#10;Description automatically generated">
            <a:extLst>
              <a:ext uri="{FF2B5EF4-FFF2-40B4-BE49-F238E27FC236}">
                <a16:creationId xmlns:a16="http://schemas.microsoft.com/office/drawing/2014/main" id="{5245F5AF-4D59-C904-1418-DEDE83324C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012" y="1907063"/>
            <a:ext cx="5499693" cy="299733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65A83B9-7A14-D8F8-3930-79651FBB7800}"/>
              </a:ext>
            </a:extLst>
          </p:cNvPr>
          <p:cNvSpPr txBox="1"/>
          <p:nvPr/>
        </p:nvSpPr>
        <p:spPr>
          <a:xfrm>
            <a:off x="6477000" y="599583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https://www.youtube.com/watch?v=pAwjiGkafbM</a:t>
            </a:r>
            <a:endParaRPr lang="en-US" dirty="0"/>
          </a:p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D88398F-0E99-5241-8B49-E7C0221AD4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0634" y="4320541"/>
            <a:ext cx="981212" cy="55395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7231CA5-45C2-FB92-9F92-494992C203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1906" y="2046733"/>
            <a:ext cx="1943371" cy="37152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4BA55B9-9891-2B8F-90B4-E8B0E194F01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34992" y="3949040"/>
            <a:ext cx="299437" cy="25860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2159679-D7A3-EB9D-DEF4-E874323E249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46752" y="3892578"/>
            <a:ext cx="399568" cy="371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2201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2024-10-29 13-01-39 (online-video-cutter.com)">
            <a:hlinkClick r:id="" action="ppaction://media"/>
            <a:extLst>
              <a:ext uri="{FF2B5EF4-FFF2-40B4-BE49-F238E27FC236}">
                <a16:creationId xmlns:a16="http://schemas.microsoft.com/office/drawing/2014/main" id="{F05BE45B-6E37-16FC-6BC9-67621EB64B6F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23334" y="13052"/>
            <a:ext cx="11175628" cy="6286148"/>
          </a:xfrm>
        </p:spPr>
      </p:pic>
    </p:spTree>
    <p:extLst>
      <p:ext uri="{BB962C8B-B14F-4D97-AF65-F5344CB8AC3E}">
        <p14:creationId xmlns:p14="http://schemas.microsoft.com/office/powerpoint/2010/main" val="3980600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320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9B2B3-07A8-4A16-990F-4010A0C774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" y="2301039"/>
            <a:ext cx="12268200" cy="4351338"/>
          </a:xfrm>
        </p:spPr>
        <p:txBody>
          <a:bodyPr>
            <a:normAutofit/>
          </a:bodyPr>
          <a:lstStyle/>
          <a:p>
            <a:r>
              <a:rPr lang="en-US" sz="2400" dirty="0"/>
              <a:t>in real world problems it’s often possible to reduce the number of features considerably: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>
                <a:highlight>
                  <a:srgbClr val="FFFF00"/>
                </a:highlight>
              </a:rPr>
              <a:t>Analogy</a:t>
            </a:r>
            <a:r>
              <a:rPr lang="en-US" sz="2400" i="1" dirty="0">
                <a:highlight>
                  <a:srgbClr val="FFFF00"/>
                </a:highlight>
              </a:rPr>
              <a:t>:</a:t>
            </a:r>
            <a:endParaRPr lang="en-US" sz="2400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US" sz="2400" dirty="0"/>
              <a:t>     </a:t>
            </a:r>
            <a:r>
              <a:rPr lang="en-US" sz="2400" i="1" dirty="0">
                <a:highlight>
                  <a:srgbClr val="FFFF00"/>
                </a:highlight>
              </a:rPr>
              <a:t>Like summarizing a 100-page book into 1 page — you lose details, but keep the essence.</a:t>
            </a:r>
          </a:p>
          <a:p>
            <a:endParaRPr lang="en-US" sz="2400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8F51EEA-97CF-9EF2-AF73-F19ECBDA2B78}"/>
              </a:ext>
            </a:extLst>
          </p:cNvPr>
          <p:cNvCxnSpPr/>
          <p:nvPr/>
        </p:nvCxnSpPr>
        <p:spPr>
          <a:xfrm flipV="1">
            <a:off x="415712" y="3141721"/>
            <a:ext cx="719667" cy="4064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B35C7EF-4EBF-1DC6-1E3A-9B934E24F95D}"/>
              </a:ext>
            </a:extLst>
          </p:cNvPr>
          <p:cNvCxnSpPr>
            <a:cxnSpLocks/>
          </p:cNvCxnSpPr>
          <p:nvPr/>
        </p:nvCxnSpPr>
        <p:spPr>
          <a:xfrm>
            <a:off x="415712" y="3548122"/>
            <a:ext cx="75522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F228EC7-5C13-05CA-631D-1190F95D8ECB}"/>
              </a:ext>
            </a:extLst>
          </p:cNvPr>
          <p:cNvCxnSpPr>
            <a:cxnSpLocks/>
          </p:cNvCxnSpPr>
          <p:nvPr/>
        </p:nvCxnSpPr>
        <p:spPr>
          <a:xfrm>
            <a:off x="415712" y="3548122"/>
            <a:ext cx="719667" cy="4064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6C637A2-F470-D10B-5CB2-8DD5C197E13F}"/>
              </a:ext>
            </a:extLst>
          </p:cNvPr>
          <p:cNvSpPr txBox="1"/>
          <p:nvPr/>
        </p:nvSpPr>
        <p:spPr>
          <a:xfrm>
            <a:off x="1153160" y="2929271"/>
            <a:ext cx="6202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some information loss            a slightly worse performance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02DEB4F-9136-A96B-6ECD-E67649AD2118}"/>
              </a:ext>
            </a:extLst>
          </p:cNvPr>
          <p:cNvCxnSpPr>
            <a:cxnSpLocks/>
          </p:cNvCxnSpPr>
          <p:nvPr/>
        </p:nvCxnSpPr>
        <p:spPr>
          <a:xfrm>
            <a:off x="3499273" y="3110550"/>
            <a:ext cx="42502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BC26867-7F12-A63B-B940-121B9529C29C}"/>
              </a:ext>
            </a:extLst>
          </p:cNvPr>
          <p:cNvSpPr txBox="1"/>
          <p:nvPr/>
        </p:nvSpPr>
        <p:spPr>
          <a:xfrm>
            <a:off x="1153160" y="3329590"/>
            <a:ext cx="6202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speed up training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E3EE94-5E51-2271-6FA1-043C9D2E670E}"/>
              </a:ext>
            </a:extLst>
          </p:cNvPr>
          <p:cNvSpPr txBox="1"/>
          <p:nvPr/>
        </p:nvSpPr>
        <p:spPr>
          <a:xfrm>
            <a:off x="1153160" y="3830377"/>
            <a:ext cx="106409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visualization           reducing the number of dimensions to 2 or 3 we can plot the data and gain some insights about the it  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0F1C7A6-5929-C730-F69B-1B32933DEB9F}"/>
              </a:ext>
            </a:extLst>
          </p:cNvPr>
          <p:cNvCxnSpPr>
            <a:cxnSpLocks/>
          </p:cNvCxnSpPr>
          <p:nvPr/>
        </p:nvCxnSpPr>
        <p:spPr>
          <a:xfrm>
            <a:off x="2998554" y="4010320"/>
            <a:ext cx="42502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55F76110-7235-BB92-6259-D53BCB232D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4102" y="3287504"/>
            <a:ext cx="455171" cy="45290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81B16F1-0A39-1F76-F86D-A6060C7B59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1687" y="4155262"/>
            <a:ext cx="455171" cy="45290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C208568-4E08-4371-ED56-DE8EF3EB7E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6059" y="2816800"/>
            <a:ext cx="538055" cy="493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8825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4ECBC7F-4BBD-67AB-B181-5799986501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737" y="156377"/>
            <a:ext cx="4818260" cy="25439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92B2F92-926B-B46B-CF30-311E6D1EB4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6004" y="156377"/>
            <a:ext cx="4730300" cy="2543959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AC003B7A-FAD2-B2F0-ADD5-88B7DB6DBCBE}"/>
              </a:ext>
            </a:extLst>
          </p:cNvPr>
          <p:cNvSpPr/>
          <p:nvPr/>
        </p:nvSpPr>
        <p:spPr>
          <a:xfrm>
            <a:off x="5483098" y="1160639"/>
            <a:ext cx="1225804" cy="53269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270F2C-2916-CC65-CF1B-DCAF156964AD}"/>
              </a:ext>
            </a:extLst>
          </p:cNvPr>
          <p:cNvSpPr txBox="1"/>
          <p:nvPr/>
        </p:nvSpPr>
        <p:spPr>
          <a:xfrm>
            <a:off x="0" y="2761092"/>
            <a:ext cx="122681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NOTE: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dimensionality reduction algorithm usually doesn’t describe a particular meaning to these new features </a:t>
            </a:r>
            <a:r>
              <a:rPr lang="en-US" i="1" dirty="0"/>
              <a:t>z</a:t>
            </a:r>
            <a:r>
              <a:rPr lang="en-US" i="1" baseline="-25000" dirty="0"/>
              <a:t>1</a:t>
            </a:r>
            <a:r>
              <a:rPr lang="en-US" dirty="0"/>
              <a:t> and </a:t>
            </a:r>
            <a:r>
              <a:rPr lang="en-US" i="1" dirty="0"/>
              <a:t>z</a:t>
            </a:r>
            <a:r>
              <a:rPr lang="en-US" i="1" baseline="-25000" dirty="0"/>
              <a:t>2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it’s often up to us to figure out roughly what these features means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B43CC3D-ED6E-EA0C-0DDA-A4965129A3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9688" y="4168483"/>
            <a:ext cx="5699512" cy="2689516"/>
          </a:xfrm>
          <a:prstGeom prst="rect">
            <a:avLst/>
          </a:prstGeom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A9FDA910-5FC5-7890-3C23-032510C55D1C}"/>
              </a:ext>
            </a:extLst>
          </p:cNvPr>
          <p:cNvSpPr/>
          <p:nvPr/>
        </p:nvSpPr>
        <p:spPr>
          <a:xfrm>
            <a:off x="367737" y="5246895"/>
            <a:ext cx="1225804" cy="53269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21FB6A-1137-BC55-041F-84A57868EE43}"/>
              </a:ext>
            </a:extLst>
          </p:cNvPr>
          <p:cNvSpPr txBox="1"/>
          <p:nvPr/>
        </p:nvSpPr>
        <p:spPr>
          <a:xfrm>
            <a:off x="7569200" y="4505199"/>
            <a:ext cx="4495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might find for example that the </a:t>
            </a:r>
            <a:r>
              <a:rPr lang="en-US" i="1" dirty="0"/>
              <a:t>z</a:t>
            </a:r>
            <a:r>
              <a:rPr lang="en-US" i="1" baseline="-25000" dirty="0"/>
              <a:t>1</a:t>
            </a:r>
            <a:r>
              <a:rPr lang="en-US" dirty="0"/>
              <a:t> axis corresponds roughly to the overall country size or the overall economic activity (GDP) whereas the </a:t>
            </a:r>
            <a:r>
              <a:rPr lang="en-US" i="1" dirty="0"/>
              <a:t>z</a:t>
            </a:r>
            <a:r>
              <a:rPr lang="en-US" i="1" baseline="-25000" dirty="0"/>
              <a:t>2</a:t>
            </a:r>
            <a:r>
              <a:rPr lang="en-US" dirty="0"/>
              <a:t> axis may correspond to per person economic activity </a:t>
            </a:r>
          </a:p>
        </p:txBody>
      </p:sp>
    </p:spTree>
    <p:extLst>
      <p:ext uri="{BB962C8B-B14F-4D97-AF65-F5344CB8AC3E}">
        <p14:creationId xmlns:p14="http://schemas.microsoft.com/office/powerpoint/2010/main" val="39743168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A87E9-1A2B-E074-95D6-F62A25193F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8998" y="2426229"/>
            <a:ext cx="10117667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2) </a:t>
            </a:r>
            <a:r>
              <a:rPr lang="en-US" sz="6000" dirty="0"/>
              <a:t>Principal component analysis (PCA)</a:t>
            </a:r>
            <a:br>
              <a:rPr lang="en-US" sz="6000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33210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794B17A-DCC3-5C2B-E25C-C2C4C16FC1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133" y="441490"/>
            <a:ext cx="11497733" cy="26742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50D197-9E73-8606-8EEF-806F89AB7B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" y="3529458"/>
            <a:ext cx="11743266" cy="3259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6794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40B74D4-6206-EDAE-2198-11BE8FC2A5E4}"/>
              </a:ext>
            </a:extLst>
          </p:cNvPr>
          <p:cNvSpPr txBox="1"/>
          <p:nvPr/>
        </p:nvSpPr>
        <p:spPr>
          <a:xfrm>
            <a:off x="135467" y="296333"/>
            <a:ext cx="1154006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GENERAL IDEA:</a:t>
            </a:r>
            <a:r>
              <a:rPr lang="en-US" sz="2000" dirty="0"/>
              <a:t> identify the hyperplane that lies closest to the data and then projects the data onto it</a:t>
            </a:r>
          </a:p>
          <a:p>
            <a:endParaRPr lang="en-US" sz="2000" dirty="0"/>
          </a:p>
          <a:p>
            <a:r>
              <a:rPr lang="en-US" sz="2000" b="1" dirty="0">
                <a:solidFill>
                  <a:srgbClr val="FF0000"/>
                </a:solidFill>
              </a:rPr>
              <a:t>NOTE: </a:t>
            </a:r>
            <a:r>
              <a:rPr lang="en-US" sz="2000" dirty="0"/>
              <a:t>before we can project the training set onto a lower-dimensional hyperplane, we first need to choose </a:t>
            </a:r>
            <a:r>
              <a:rPr lang="en-US" sz="2000" b="1" dirty="0"/>
              <a:t>THE RIGHT HYPERPLANE </a:t>
            </a:r>
            <a:r>
              <a:rPr lang="en-US" sz="2000" dirty="0"/>
              <a:t>!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B851A9-FE51-FD69-66A7-AC999678B4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72267"/>
            <a:ext cx="5839426" cy="325937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27C721D-2BC3-E7F0-C327-A9A310A717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216" y="2465331"/>
            <a:ext cx="5951784" cy="3266306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C733399C-6D0D-CA16-DE2F-AC67A13EC096}"/>
              </a:ext>
            </a:extLst>
          </p:cNvPr>
          <p:cNvSpPr/>
          <p:nvPr/>
        </p:nvSpPr>
        <p:spPr>
          <a:xfrm>
            <a:off x="5692175" y="3923109"/>
            <a:ext cx="548041" cy="35074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16906E-E2EB-BE18-DB60-BC62A46D8E77}"/>
              </a:ext>
            </a:extLst>
          </p:cNvPr>
          <p:cNvSpPr txBox="1"/>
          <p:nvPr/>
        </p:nvSpPr>
        <p:spPr>
          <a:xfrm>
            <a:off x="4275667" y="6028267"/>
            <a:ext cx="38269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red line</a:t>
            </a:r>
          </a:p>
          <a:p>
            <a:r>
              <a:rPr lang="en-US" sz="2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magenta line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5FDF07E-109A-2290-3878-E7C1B6696DDF}"/>
              </a:ext>
            </a:extLst>
          </p:cNvPr>
          <p:cNvCxnSpPr>
            <a:cxnSpLocks/>
          </p:cNvCxnSpPr>
          <p:nvPr/>
        </p:nvCxnSpPr>
        <p:spPr>
          <a:xfrm>
            <a:off x="5267148" y="6226283"/>
            <a:ext cx="42502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409B10B-CE55-A49F-419B-37A2616212B0}"/>
              </a:ext>
            </a:extLst>
          </p:cNvPr>
          <p:cNvCxnSpPr>
            <a:cxnSpLocks/>
          </p:cNvCxnSpPr>
          <p:nvPr/>
        </p:nvCxnSpPr>
        <p:spPr>
          <a:xfrm>
            <a:off x="5815189" y="6556483"/>
            <a:ext cx="42502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414CCB4D-7E1A-65D1-952A-D557A3EEE2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325" y="6382158"/>
            <a:ext cx="425028" cy="39007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9B9A0ED-7601-B455-71E6-04535F5967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9426" y="6007625"/>
            <a:ext cx="455171" cy="452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970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CB3A686-1137-BA63-494B-DE99FF778B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604000" cy="263244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0A486F7-781D-8021-5625-68F8B3A59A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855" y="2639675"/>
            <a:ext cx="2841145" cy="193392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95A00AE-2462-4EF5-B92F-D90A2ED71F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749636"/>
            <a:ext cx="12192000" cy="110836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692CAB3-638C-93CE-25D5-40D234CDCE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4439" y="752686"/>
            <a:ext cx="8607561" cy="71094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582072C-8E43-D720-6AFB-9125F2F969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" y="2043166"/>
            <a:ext cx="6671733" cy="58927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1463D31-A693-A339-A2F4-FF5AE45A22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20998" y="2148752"/>
            <a:ext cx="978877" cy="71447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2B9443E-90D3-F075-A31A-7343DA87F8F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84439" y="3211976"/>
            <a:ext cx="8607561" cy="75929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6E957BE2-A702-3F7E-ABB2-9E3660BF219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691658" y="3329751"/>
            <a:ext cx="500341" cy="31552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EF98C31F-8B85-B765-5014-D33E6E55E2C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33463" y="3277267"/>
            <a:ext cx="163927" cy="31552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2A109E82-8F8D-FA82-6135-BB7595479E9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62703" y="3256731"/>
            <a:ext cx="163927" cy="31552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B0FA2F0-614C-8F86-69F0-A526BFDAF39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71827" y="3271237"/>
            <a:ext cx="163927" cy="31552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C2B241FE-93DE-2869-092F-DC5A5AC3433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48362" y="3304670"/>
            <a:ext cx="190831" cy="248658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3A4CD4E7-7B4F-A84E-F551-B00C1E70962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20010" y="3310766"/>
            <a:ext cx="190831" cy="248658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5B270D15-493B-7715-8BF9-09E54B68A589}"/>
              </a:ext>
            </a:extLst>
          </p:cNvPr>
          <p:cNvSpPr txBox="1"/>
          <p:nvPr/>
        </p:nvSpPr>
        <p:spPr>
          <a:xfrm>
            <a:off x="5171766" y="3211976"/>
            <a:ext cx="474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6361741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E014768-3D9C-F75D-DD20-A9E7C83EC4C8}"/>
              </a:ext>
            </a:extLst>
          </p:cNvPr>
          <p:cNvSpPr txBox="1"/>
          <p:nvPr/>
        </p:nvSpPr>
        <p:spPr>
          <a:xfrm>
            <a:off x="256854" y="186817"/>
            <a:ext cx="12215973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  <a:r>
              <a:rPr lang="en-US" sz="2000" dirty="0">
                <a:highlight>
                  <a:srgbClr val="00FF00"/>
                </a:highlight>
              </a:rPr>
              <a:t>PCA finds </a:t>
            </a:r>
            <a:r>
              <a:rPr lang="en-US" sz="2000" b="1" dirty="0">
                <a:highlight>
                  <a:srgbClr val="00FF00"/>
                </a:highlight>
              </a:rPr>
              <a:t>new axes </a:t>
            </a:r>
            <a:r>
              <a:rPr lang="ro-RO" sz="2000" dirty="0">
                <a:highlight>
                  <a:srgbClr val="00FF00"/>
                </a:highlight>
              </a:rPr>
              <a:t>(called </a:t>
            </a:r>
            <a:r>
              <a:rPr lang="ro-RO" sz="2000" b="1" dirty="0">
                <a:highlight>
                  <a:srgbClr val="00FF00"/>
                </a:highlight>
              </a:rPr>
              <a:t>principal components</a:t>
            </a:r>
            <a:r>
              <a:rPr lang="ro-RO" sz="2000" dirty="0">
                <a:highlight>
                  <a:srgbClr val="00FF00"/>
                </a:highlight>
              </a:rPr>
              <a:t>)</a:t>
            </a:r>
            <a:r>
              <a:rPr lang="en-US" sz="2000" dirty="0">
                <a:highlight>
                  <a:srgbClr val="00FF00"/>
                </a:highlight>
              </a:rPr>
              <a:t> that capture the </a:t>
            </a:r>
            <a:r>
              <a:rPr lang="en-US" sz="2000" b="1" dirty="0">
                <a:highlight>
                  <a:srgbClr val="00FF00"/>
                </a:highlight>
              </a:rPr>
              <a:t>maximum variance</a:t>
            </a:r>
            <a:r>
              <a:rPr lang="en-US" sz="2000" dirty="0">
                <a:highlight>
                  <a:srgbClr val="00FF00"/>
                </a:highlight>
              </a:rPr>
              <a:t> in the data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>
              <a:highlight>
                <a:srgbClr val="00FF00"/>
              </a:highlight>
            </a:endParaRPr>
          </a:p>
          <a:p>
            <a:r>
              <a:rPr lang="en-US" sz="2000" b="1" dirty="0"/>
              <a:t>How it works: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highlight>
                  <a:srgbClr val="FFFF00"/>
                </a:highlight>
              </a:rPr>
              <a:t>The </a:t>
            </a:r>
            <a:r>
              <a:rPr lang="en-US" sz="2000" b="1" dirty="0">
                <a:highlight>
                  <a:srgbClr val="FFFF00"/>
                </a:highlight>
              </a:rPr>
              <a:t>first principal component</a:t>
            </a:r>
            <a:r>
              <a:rPr lang="en-US" sz="2000" dirty="0">
                <a:highlight>
                  <a:srgbClr val="FFFF00"/>
                </a:highlight>
              </a:rPr>
              <a:t> points in the direction of </a:t>
            </a:r>
            <a:r>
              <a:rPr lang="en-US" sz="2000" b="1" dirty="0">
                <a:highlight>
                  <a:srgbClr val="FFFF00"/>
                </a:highlight>
              </a:rPr>
              <a:t>highest variance</a:t>
            </a:r>
            <a:r>
              <a:rPr lang="en-US" sz="2000" dirty="0">
                <a:highlight>
                  <a:srgbClr val="FFFF00"/>
                </a:highlight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highlight>
                <a:srgbClr val="FFFF00"/>
              </a:highligh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highlight>
                  <a:srgbClr val="FFFF00"/>
                </a:highlight>
              </a:rPr>
              <a:t>Each subsequent component is </a:t>
            </a:r>
            <a:r>
              <a:rPr lang="en-US" sz="2000" b="1" dirty="0">
                <a:highlight>
                  <a:srgbClr val="FFFF00"/>
                </a:highlight>
              </a:rPr>
              <a:t>orthogonal</a:t>
            </a:r>
            <a:r>
              <a:rPr lang="en-US" sz="2000" dirty="0">
                <a:highlight>
                  <a:srgbClr val="FFFF00"/>
                </a:highlight>
              </a:rPr>
              <a:t> (perpendicular) to the previous ones and captures the </a:t>
            </a:r>
            <a:r>
              <a:rPr lang="en-US" sz="2000" b="1" dirty="0">
                <a:highlight>
                  <a:srgbClr val="FFFF00"/>
                </a:highlight>
              </a:rPr>
              <a:t>next highest variance</a:t>
            </a:r>
            <a:r>
              <a:rPr lang="en-US" sz="2000" dirty="0">
                <a:highlight>
                  <a:srgbClr val="FFFF00"/>
                </a:highlight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highlight>
                <a:srgbClr val="FFFF00"/>
              </a:highligh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highlight>
                  <a:srgbClr val="FFFF00"/>
                </a:highlight>
              </a:rPr>
              <a:t>These components form a new coordinate system that better reveals the structure of the data.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None/>
            </a:pPr>
            <a:r>
              <a:rPr lang="en-US" sz="2000" b="1" i="1" dirty="0"/>
              <a:t>Analogy</a:t>
            </a:r>
            <a:r>
              <a:rPr lang="en-US" sz="2000" i="1" dirty="0"/>
              <a:t>:</a:t>
            </a:r>
            <a:r>
              <a:rPr lang="en-US" sz="2000" dirty="0"/>
              <a:t> Imagine rotating the coordinate system to “see” the data from its most informative angle.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6106CD-E3DE-854F-5635-B05F3F6EA0D5}"/>
              </a:ext>
            </a:extLst>
          </p:cNvPr>
          <p:cNvSpPr txBox="1"/>
          <p:nvPr/>
        </p:nvSpPr>
        <p:spPr>
          <a:xfrm>
            <a:off x="1139170" y="4150132"/>
            <a:ext cx="110528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dirty="0"/>
              <a:t>Fun fact</a:t>
            </a:r>
            <a:r>
              <a:rPr lang="en-US" i="1" dirty="0"/>
              <a:t>:</a:t>
            </a:r>
            <a:r>
              <a:rPr lang="en-US" dirty="0"/>
              <a:t> PCA was invented over 100 years ago — still one of the most used tools in AI today!</a:t>
            </a:r>
            <a:endParaRPr lang="ro-RO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79F8467-A154-1620-44F8-6B89D5E1BA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865" y="4681958"/>
            <a:ext cx="4757908" cy="212151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6FBFD7-4C8B-57E5-127E-246CD214F6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4215" y="4681958"/>
            <a:ext cx="4863714" cy="2176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4493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18F45-DA00-15BF-2D2E-45720CB0E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3199" y="-183515"/>
            <a:ext cx="10515600" cy="1325563"/>
          </a:xfrm>
        </p:spPr>
        <p:txBody>
          <a:bodyPr/>
          <a:lstStyle/>
          <a:p>
            <a:r>
              <a:rPr lang="en-US" dirty="0"/>
              <a:t>PCA Steps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BF179D-9A1E-9363-D417-4CCA4DD2E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1177357"/>
            <a:ext cx="7236391" cy="280674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D404B76-EF97-89F2-2F80-52D22F282A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948" y="5772805"/>
            <a:ext cx="7967614" cy="1085195"/>
          </a:xfrm>
          <a:prstGeom prst="rect">
            <a:avLst/>
          </a:prstGeom>
        </p:spPr>
      </p:pic>
      <p:sp>
        <p:nvSpPr>
          <p:cNvPr id="9" name="Arrow: Down 8">
            <a:extLst>
              <a:ext uri="{FF2B5EF4-FFF2-40B4-BE49-F238E27FC236}">
                <a16:creationId xmlns:a16="http://schemas.microsoft.com/office/drawing/2014/main" id="{B9A7515A-728A-8849-5725-EC923A23B462}"/>
              </a:ext>
            </a:extLst>
          </p:cNvPr>
          <p:cNvSpPr/>
          <p:nvPr/>
        </p:nvSpPr>
        <p:spPr>
          <a:xfrm>
            <a:off x="5234600" y="4171411"/>
            <a:ext cx="678520" cy="150923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779513-ADE5-022B-F1A3-4FF0B3DEF26C}"/>
              </a:ext>
            </a:extLst>
          </p:cNvPr>
          <p:cNvSpPr txBox="1"/>
          <p:nvPr/>
        </p:nvSpPr>
        <p:spPr>
          <a:xfrm>
            <a:off x="5738202" y="4615487"/>
            <a:ext cx="127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WHY 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FB3BB11-8CDB-8D80-7679-C84EBEB627B2}"/>
              </a:ext>
            </a:extLst>
          </p:cNvPr>
          <p:cNvSpPr/>
          <p:nvPr/>
        </p:nvSpPr>
        <p:spPr>
          <a:xfrm>
            <a:off x="941058" y="1026775"/>
            <a:ext cx="75854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1)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F101B3-039B-DADB-8891-8B7144666E70}"/>
              </a:ext>
            </a:extLst>
          </p:cNvPr>
          <p:cNvSpPr txBox="1"/>
          <p:nvPr/>
        </p:nvSpPr>
        <p:spPr>
          <a:xfrm>
            <a:off x="7112897" y="0"/>
            <a:ext cx="62312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dirty="0">
                <a:hlinkClick r:id="rId4"/>
              </a:rPr>
              <a:t>https://www.youtube.com/watch?v=pAwjiGkafbM</a:t>
            </a:r>
            <a:endParaRPr lang="en-US" dirty="0"/>
          </a:p>
          <a:p>
            <a:endParaRPr lang="ro-RO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1E8986C-D882-CACF-F9B0-32E7AFDEC1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9714" y="356781"/>
            <a:ext cx="2375295" cy="2263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3321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6005606-CE58-9C47-865F-19F02888C9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9599" y="1168638"/>
            <a:ext cx="8383170" cy="288647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40DF6F2-BBA5-2A9F-9DDE-F10A65765053}"/>
              </a:ext>
            </a:extLst>
          </p:cNvPr>
          <p:cNvSpPr/>
          <p:nvPr/>
        </p:nvSpPr>
        <p:spPr>
          <a:xfrm>
            <a:off x="1061097" y="1419557"/>
            <a:ext cx="75854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2</a:t>
            </a:r>
            <a:r>
              <a:rPr lang="en-US" sz="54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2CFE398-DC49-EBB9-8BF3-EF6B1C3A7C28}"/>
                  </a:ext>
                </a:extLst>
              </p14:cNvPr>
              <p14:cNvContentPartPr/>
              <p14:nvPr/>
            </p14:nvContentPartPr>
            <p14:xfrm>
              <a:off x="7043787" y="4055120"/>
              <a:ext cx="1163880" cy="441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2CFE398-DC49-EBB9-8BF3-EF6B1C3A7C2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26147" y="4037480"/>
                <a:ext cx="1199520" cy="477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D1919313-54C1-749A-1052-C4232480B25E}"/>
              </a:ext>
            </a:extLst>
          </p:cNvPr>
          <p:cNvGrpSpPr/>
          <p:nvPr/>
        </p:nvGrpSpPr>
        <p:grpSpPr>
          <a:xfrm>
            <a:off x="5731947" y="2309120"/>
            <a:ext cx="3221280" cy="826200"/>
            <a:chOff x="5731947" y="2309120"/>
            <a:chExt cx="3221280" cy="82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327D737-CCAE-996B-6526-33F4B74605F4}"/>
                    </a:ext>
                  </a:extLst>
                </p14:cNvPr>
                <p14:cNvContentPartPr/>
                <p14:nvPr/>
              </p14:nvContentPartPr>
              <p14:xfrm>
                <a:off x="5731947" y="2776760"/>
                <a:ext cx="3000600" cy="3585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327D737-CCAE-996B-6526-33F4B74605F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714307" y="2759120"/>
                  <a:ext cx="3036240" cy="39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FFBBF83-D0F3-1C07-0E41-E3FEB58F87A1}"/>
                    </a:ext>
                  </a:extLst>
                </p14:cNvPr>
                <p14:cNvContentPartPr/>
                <p14:nvPr/>
              </p14:nvContentPartPr>
              <p14:xfrm>
                <a:off x="8568027" y="2894840"/>
                <a:ext cx="385200" cy="2394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FFBBF83-D0F3-1C07-0E41-E3FEB58F87A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550027" y="2877200"/>
                  <a:ext cx="42084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7C51647-8FCD-10A0-F090-34D9AF241730}"/>
                    </a:ext>
                  </a:extLst>
                </p14:cNvPr>
                <p14:cNvContentPartPr/>
                <p14:nvPr/>
              </p14:nvContentPartPr>
              <p14:xfrm>
                <a:off x="6739227" y="2335760"/>
                <a:ext cx="2003760" cy="4759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7C51647-8FCD-10A0-F090-34D9AF24173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721227" y="2317760"/>
                  <a:ext cx="2039400" cy="51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ED979A5-8814-BA9A-3CFC-4E139548C095}"/>
                    </a:ext>
                  </a:extLst>
                </p14:cNvPr>
                <p14:cNvContentPartPr/>
                <p14:nvPr/>
              </p14:nvContentPartPr>
              <p14:xfrm>
                <a:off x="8585307" y="2309120"/>
                <a:ext cx="221760" cy="1432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ED979A5-8814-BA9A-3CFC-4E139548C09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567307" y="2291480"/>
                  <a:ext cx="257400" cy="178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8B415B12-BE58-7E94-04C7-7E6F1809D47F}"/>
                  </a:ext>
                </a:extLst>
              </p14:cNvPr>
              <p14:cNvContentPartPr/>
              <p14:nvPr/>
            </p14:nvContentPartPr>
            <p14:xfrm>
              <a:off x="8026947" y="4402520"/>
              <a:ext cx="218880" cy="2001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8B415B12-BE58-7E94-04C7-7E6F1809D47F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009307" y="4384520"/>
                <a:ext cx="254520" cy="235800"/>
              </a:xfrm>
              <a:prstGeom prst="rect">
                <a:avLst/>
              </a:prstGeom>
            </p:spPr>
          </p:pic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66744793-C44F-F637-8142-364F93BF996F}"/>
              </a:ext>
            </a:extLst>
          </p:cNvPr>
          <p:cNvSpPr txBox="1"/>
          <p:nvPr/>
        </p:nvSpPr>
        <p:spPr>
          <a:xfrm>
            <a:off x="8300587" y="4286390"/>
            <a:ext cx="13887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n</a:t>
            </a:r>
            <a:r>
              <a:rPr lang="en-US" sz="2400" dirty="0"/>
              <a:t> x </a:t>
            </a:r>
            <a:r>
              <a:rPr lang="en-US" sz="2400" i="1" dirty="0"/>
              <a:t>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7D5903B-D6DF-DAC5-A9DA-222CA3EF7CB6}"/>
              </a:ext>
            </a:extLst>
          </p:cNvPr>
          <p:cNvSpPr txBox="1"/>
          <p:nvPr/>
        </p:nvSpPr>
        <p:spPr>
          <a:xfrm>
            <a:off x="8953227" y="2725207"/>
            <a:ext cx="13887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n</a:t>
            </a:r>
            <a:r>
              <a:rPr lang="en-US" sz="2400" dirty="0"/>
              <a:t> x </a:t>
            </a:r>
            <a:r>
              <a:rPr lang="en-US" sz="2400" i="1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98A00AC-8A62-CD04-8BB4-34B77E5BD0C0}"/>
              </a:ext>
            </a:extLst>
          </p:cNvPr>
          <p:cNvSpPr txBox="1"/>
          <p:nvPr/>
        </p:nvSpPr>
        <p:spPr>
          <a:xfrm>
            <a:off x="8793463" y="2112055"/>
            <a:ext cx="13887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1</a:t>
            </a:r>
            <a:r>
              <a:rPr lang="en-US" sz="2400" dirty="0"/>
              <a:t> x </a:t>
            </a:r>
            <a:r>
              <a:rPr lang="en-US" sz="2400" i="1" dirty="0"/>
              <a:t>n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91F278C-2E1F-2F71-746E-951FA01C37F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999278" y="5466080"/>
            <a:ext cx="6804296" cy="1411959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97739C8E-9BC3-066F-A2C9-0EAA51344663}"/>
              </a:ext>
            </a:extLst>
          </p:cNvPr>
          <p:cNvSpPr/>
          <p:nvPr/>
        </p:nvSpPr>
        <p:spPr>
          <a:xfrm>
            <a:off x="1061096" y="2894840"/>
            <a:ext cx="75854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3)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283CD4B-E782-791D-3658-A358717C1245}"/>
              </a:ext>
            </a:extLst>
          </p:cNvPr>
          <p:cNvSpPr/>
          <p:nvPr/>
        </p:nvSpPr>
        <p:spPr>
          <a:xfrm>
            <a:off x="1061095" y="5348418"/>
            <a:ext cx="75854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4</a:t>
            </a:r>
            <a:r>
              <a:rPr lang="en-US" sz="54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24ED722-B656-C0D2-C897-70ACFC96F54B}"/>
              </a:ext>
            </a:extLst>
          </p:cNvPr>
          <p:cNvSpPr/>
          <p:nvPr/>
        </p:nvSpPr>
        <p:spPr>
          <a:xfrm>
            <a:off x="1061096" y="6034802"/>
            <a:ext cx="75854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5)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F2A56A-B4A5-F302-0489-0B4DDDA941B8}"/>
              </a:ext>
            </a:extLst>
          </p:cNvPr>
          <p:cNvSpPr txBox="1"/>
          <p:nvPr/>
        </p:nvSpPr>
        <p:spPr>
          <a:xfrm>
            <a:off x="7112897" y="0"/>
            <a:ext cx="62312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dirty="0">
                <a:hlinkClick r:id="rId16"/>
              </a:rPr>
              <a:t>https://www.youtube.com/watch?v=pAwjiGkafbM</a:t>
            </a:r>
            <a:endParaRPr lang="en-US" dirty="0"/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42946179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457EA6C-BD99-0D39-DC48-DF7488095D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42758"/>
            <a:ext cx="12083970" cy="501524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4F7EEE5-E0C6-A3C8-D9C9-5F8EBE6690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715" y="271881"/>
            <a:ext cx="11734569" cy="90424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E6F7DDD-34F1-8430-AFF0-20B6142D73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853" y="1736039"/>
            <a:ext cx="11434547" cy="724001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051152AA-3F94-9BC9-B9A7-DA1CE65FC368}"/>
              </a:ext>
            </a:extLst>
          </p:cNvPr>
          <p:cNvGrpSpPr/>
          <p:nvPr/>
        </p:nvGrpSpPr>
        <p:grpSpPr>
          <a:xfrm>
            <a:off x="5553440" y="4791880"/>
            <a:ext cx="541800" cy="637920"/>
            <a:chOff x="5553440" y="4791880"/>
            <a:chExt cx="541800" cy="63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277CA40-8700-B34C-1A5C-92162D979841}"/>
                    </a:ext>
                  </a:extLst>
                </p14:cNvPr>
                <p14:cNvContentPartPr/>
                <p14:nvPr/>
              </p14:nvContentPartPr>
              <p14:xfrm>
                <a:off x="5553440" y="4791880"/>
                <a:ext cx="541800" cy="6379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277CA40-8700-B34C-1A5C-92162D97984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490800" y="4729240"/>
                  <a:ext cx="667440" cy="76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4ECE8BF-71F5-7981-E448-031AAFF5246E}"/>
                    </a:ext>
                  </a:extLst>
                </p14:cNvPr>
                <p14:cNvContentPartPr/>
                <p14:nvPr/>
              </p14:nvContentPartPr>
              <p14:xfrm>
                <a:off x="5668640" y="4989520"/>
                <a:ext cx="213840" cy="2527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4ECE8BF-71F5-7981-E448-031AAFF5246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606000" y="4926880"/>
                  <a:ext cx="339480" cy="378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9379E9F8-6864-06C4-6BAB-C13D45788C67}"/>
                  </a:ext>
                </a:extLst>
              </p14:cNvPr>
              <p14:cNvContentPartPr/>
              <p14:nvPr/>
            </p14:nvContentPartPr>
            <p14:xfrm>
              <a:off x="7426880" y="5931640"/>
              <a:ext cx="8280" cy="21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9379E9F8-6864-06C4-6BAB-C13D45788C6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364240" y="5868640"/>
                <a:ext cx="133920" cy="127800"/>
              </a:xfrm>
              <a:prstGeom prst="rect">
                <a:avLst/>
              </a:prstGeom>
            </p:spPr>
          </p:pic>
        </mc:Fallback>
      </mc:AlternateContent>
      <p:pic>
        <p:nvPicPr>
          <p:cNvPr id="18" name="Picture 17">
            <a:extLst>
              <a:ext uri="{FF2B5EF4-FFF2-40B4-BE49-F238E27FC236}">
                <a16:creationId xmlns:a16="http://schemas.microsoft.com/office/drawing/2014/main" id="{3388FDDB-4A6D-3154-2B47-F1FFE2E47FA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12897" y="5664903"/>
            <a:ext cx="790685" cy="40061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98FBF66-3EF1-3571-D4A0-B551E4C00AF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59522" y="5239421"/>
            <a:ext cx="3257358" cy="15045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8BA08DA-1176-A5C6-4AF2-D5D6D990E62D}"/>
              </a:ext>
            </a:extLst>
          </p:cNvPr>
          <p:cNvSpPr txBox="1"/>
          <p:nvPr/>
        </p:nvSpPr>
        <p:spPr>
          <a:xfrm>
            <a:off x="5433060" y="5035937"/>
            <a:ext cx="541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52FE30-238B-5541-0E07-DDE050455ABC}"/>
              </a:ext>
            </a:extLst>
          </p:cNvPr>
          <p:cNvSpPr txBox="1"/>
          <p:nvPr/>
        </p:nvSpPr>
        <p:spPr>
          <a:xfrm>
            <a:off x="7112897" y="0"/>
            <a:ext cx="62312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dirty="0">
                <a:hlinkClick r:id="rId13"/>
              </a:rPr>
              <a:t>https://www.youtube.com/watch?v=pAwjiGkafbM</a:t>
            </a:r>
            <a:endParaRPr lang="en-US" dirty="0"/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42518371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4F7EEE5-E0C6-A3C8-D9C9-5F8EBE6690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715" y="271881"/>
            <a:ext cx="11734569" cy="90424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E6F7DDD-34F1-8430-AFF0-20B6142D73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853" y="1736039"/>
            <a:ext cx="11434547" cy="72400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71F44EB-6B0D-D21E-02C1-B542E930E5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715" y="3962958"/>
            <a:ext cx="5471045" cy="124912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1931257-3FEF-F038-27C8-A4ACBFE9E194}"/>
                  </a:ext>
                </a:extLst>
              </p14:cNvPr>
              <p14:cNvContentPartPr/>
              <p14:nvPr/>
            </p14:nvContentPartPr>
            <p14:xfrm>
              <a:off x="5677640" y="4276720"/>
              <a:ext cx="438480" cy="11210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1931257-3FEF-F038-27C8-A4ACBFE9E19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614640" y="4213720"/>
                <a:ext cx="564120" cy="124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67D14B5-D854-9EE2-AE15-09A6696C229C}"/>
                  </a:ext>
                </a:extLst>
              </p14:cNvPr>
              <p14:cNvContentPartPr/>
              <p14:nvPr/>
            </p14:nvContentPartPr>
            <p14:xfrm>
              <a:off x="6116120" y="4338640"/>
              <a:ext cx="1750320" cy="1638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67D14B5-D854-9EE2-AE15-09A6696C229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053480" y="4275640"/>
                <a:ext cx="1875960" cy="176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DEF2199-8DF3-2F56-4E3D-71D60CF7E21B}"/>
                  </a:ext>
                </a:extLst>
              </p14:cNvPr>
              <p14:cNvContentPartPr/>
              <p14:nvPr/>
            </p14:nvContentPartPr>
            <p14:xfrm>
              <a:off x="2346560" y="5232160"/>
              <a:ext cx="814320" cy="925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DEF2199-8DF3-2F56-4E3D-71D60CF7E21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283920" y="5169160"/>
                <a:ext cx="939960" cy="218160"/>
              </a:xfrm>
              <a:prstGeom prst="rect">
                <a:avLst/>
              </a:prstGeom>
            </p:spPr>
          </p:pic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0D748AD6-CF1B-5600-5AFE-5D7E5C7F643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5212079"/>
            <a:ext cx="12192000" cy="164592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6CFB6B0-0132-9C6F-5D21-A6351C3A105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65722" y="2143760"/>
            <a:ext cx="9705788" cy="471424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0F73AED-9309-F7CF-602A-A9846D4FB7EC}"/>
              </a:ext>
            </a:extLst>
          </p:cNvPr>
          <p:cNvSpPr txBox="1"/>
          <p:nvPr/>
        </p:nvSpPr>
        <p:spPr>
          <a:xfrm>
            <a:off x="2453524" y="1099914"/>
            <a:ext cx="9509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- alternative variant used in the code part -       </a:t>
            </a:r>
          </a:p>
        </p:txBody>
      </p:sp>
    </p:spTree>
    <p:extLst>
      <p:ext uri="{BB962C8B-B14F-4D97-AF65-F5344CB8AC3E}">
        <p14:creationId xmlns:p14="http://schemas.microsoft.com/office/powerpoint/2010/main" val="9452965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3A980-0826-B941-646A-9722B69CA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0600" y="305858"/>
            <a:ext cx="10515600" cy="1325563"/>
          </a:xfrm>
        </p:spPr>
        <p:txBody>
          <a:bodyPr>
            <a:normAutofit/>
          </a:bodyPr>
          <a:lstStyle/>
          <a:p>
            <a:r>
              <a:rPr lang="en-US" sz="6600" dirty="0"/>
              <a:t>What is SVD?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2288F2C-1D5A-B0B5-8F0F-BC711B46B0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8420" y="103182"/>
            <a:ext cx="1625341" cy="162534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775E6F6-7A30-7930-5FF3-7A41317C4A0F}"/>
              </a:ext>
            </a:extLst>
          </p:cNvPr>
          <p:cNvSpPr txBox="1"/>
          <p:nvPr/>
        </p:nvSpPr>
        <p:spPr>
          <a:xfrm>
            <a:off x="0" y="1931199"/>
            <a:ext cx="117428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5"/>
              </a:rPr>
              <a:t>https://medium.com/intuition/singular-value-decomposition-svd-working-example-c2b6135673b5</a:t>
            </a:r>
            <a:endParaRPr lang="en-US" dirty="0"/>
          </a:p>
          <a:p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75875BA-BC66-3855-53BA-519248FF21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24716" y="2291293"/>
            <a:ext cx="6776374" cy="404670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BB329B1-C06B-FD21-D84E-BFD0A54133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67277" y="3361510"/>
            <a:ext cx="2376673" cy="2035438"/>
          </a:xfrm>
          <a:prstGeom prst="rect">
            <a:avLst/>
          </a:prstGeom>
        </p:spPr>
      </p:pic>
      <p:pic>
        <p:nvPicPr>
          <p:cNvPr id="4" name="SnapInsta.to_AQMvWhMELhGLmU3VSPXmq66VOsSScp0y5InrbbNv8xTc9P1chwcBmQ8mBJC6VxeO0tKQFHs_qyxiE5N3iyqAI8MoF8zTLi_Od2aDEMM">
            <a:hlinkClick r:id="" action="ppaction://media"/>
            <a:extLst>
              <a:ext uri="{FF2B5EF4-FFF2-40B4-BE49-F238E27FC236}">
                <a16:creationId xmlns:a16="http://schemas.microsoft.com/office/drawing/2014/main" id="{248C5113-194C-C0AA-AC30-A8E16570E18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48049" y="2291293"/>
            <a:ext cx="2537640" cy="4511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38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16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71A6CCA-0ABE-D164-8FF7-5B1FA538170B}"/>
              </a:ext>
            </a:extLst>
          </p:cNvPr>
          <p:cNvSpPr txBox="1"/>
          <p:nvPr/>
        </p:nvSpPr>
        <p:spPr>
          <a:xfrm>
            <a:off x="-1604" y="0"/>
            <a:ext cx="60976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What SVD Really Does (Intuition)</a:t>
            </a:r>
            <a:endParaRPr lang="ro-RO" sz="28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27DDC4F-DD6C-3215-B389-BD1A9F002D80}"/>
                  </a:ext>
                </a:extLst>
              </p:cNvPr>
              <p:cNvSpPr txBox="1"/>
              <p:nvPr/>
            </p:nvSpPr>
            <p:spPr>
              <a:xfrm>
                <a:off x="142578" y="608873"/>
                <a:ext cx="12049422" cy="59093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/>
                  <a:t>Core idea</a:t>
                </a:r>
                <a:br>
                  <a:rPr lang="en-US" dirty="0"/>
                </a:br>
                <a:r>
                  <a:rPr lang="en-US" dirty="0"/>
                  <a:t>SVD (Singular Value Decomposition) takes any matrix and </a:t>
                </a:r>
                <a:r>
                  <a:rPr lang="en-US" b="1" dirty="0"/>
                  <a:t>breaks it into simpler, interpretable parts</a:t>
                </a:r>
                <a:r>
                  <a:rPr lang="en-US" dirty="0"/>
                  <a:t> —</a:t>
                </a:r>
                <a:br>
                  <a:rPr lang="en-US" dirty="0"/>
                </a:br>
                <a:r>
                  <a:rPr lang="en-US" dirty="0"/>
                  <a:t>it shows </a:t>
                </a:r>
                <a:r>
                  <a:rPr lang="en-US" i="1" dirty="0"/>
                  <a:t>how data can be stretched, rotated, and scaled</a:t>
                </a:r>
                <a:r>
                  <a:rPr lang="en-US" dirty="0"/>
                  <a:t> in space.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ro-RO" b="1" dirty="0"/>
                  <a:t>Mathematically</a:t>
                </a:r>
                <a:endParaRPr lang="ro-RO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ro-RO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o-RO" i="1">
                          <a:latin typeface="Cambria Math" panose="02040503050406030204" pitchFamily="18" charset="0"/>
                        </a:rPr>
                        <m:t>𝑈</m:t>
                      </m:r>
                      <m:r>
                        <m:rPr>
                          <m:nor/>
                        </m:rPr>
                        <a:rPr lang="ro-RO" i="1"/>
                        <m:t> </m:t>
                      </m:r>
                      <m:r>
                        <m:rPr>
                          <m:sty m:val="p"/>
                        </m:rPr>
                        <a:rPr lang="el-GR">
                          <a:latin typeface="Cambria Math" panose="02040503050406030204" pitchFamily="18" charset="0"/>
                        </a:rPr>
                        <m:t>Σ</m:t>
                      </m:r>
                      <m:r>
                        <m:rPr>
                          <m:nor/>
                        </m:rPr>
                        <a:rPr lang="el-GR" i="1"/>
                        <m:t> 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b="0" dirty="0"/>
              </a:p>
              <a:p>
                <a:endParaRPr lang="en-US" dirty="0"/>
              </a:p>
              <a:p>
                <a:endParaRPr lang="en-US" b="0" dirty="0"/>
              </a:p>
              <a:p>
                <a:r>
                  <a:rPr lang="en-US" b="1" dirty="0"/>
                  <a:t>Intuitive meaning</a:t>
                </a: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Vᵀ</a:t>
                </a:r>
                <a:r>
                  <a:rPr lang="en-US" dirty="0"/>
                  <a:t> — directions of the </a:t>
                </a:r>
                <a:r>
                  <a:rPr lang="en-US" b="1" dirty="0"/>
                  <a:t>input space</a:t>
                </a:r>
                <a:r>
                  <a:rPr lang="en-US" dirty="0"/>
                  <a:t> (like the axes where data has structure)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Σ</a:t>
                </a:r>
                <a:r>
                  <a:rPr lang="en-US" dirty="0"/>
                  <a:t> — tells </a:t>
                </a:r>
                <a:r>
                  <a:rPr lang="en-US" b="1" dirty="0"/>
                  <a:t>how much each direction matters</a:t>
                </a:r>
                <a:r>
                  <a:rPr lang="en-US" dirty="0"/>
                  <a:t> (the amount of stretching)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U</a:t>
                </a:r>
                <a:r>
                  <a:rPr lang="en-US" dirty="0"/>
                  <a:t> — gives the </a:t>
                </a:r>
                <a:r>
                  <a:rPr lang="en-US" b="1" dirty="0"/>
                  <a:t>coordinates of data</a:t>
                </a:r>
                <a:r>
                  <a:rPr lang="en-US" dirty="0"/>
                  <a:t> after that stretching</a:t>
                </a:r>
                <a:endParaRPr lang="en-US" i="1" dirty="0"/>
              </a:p>
              <a:p>
                <a:endParaRPr lang="en-US" i="1" dirty="0"/>
              </a:p>
              <a:p>
                <a:endParaRPr lang="en-US" i="1" dirty="0"/>
              </a:p>
              <a:p>
                <a:r>
                  <a:rPr lang="en-US" b="1" dirty="0">
                    <a:highlight>
                      <a:srgbClr val="FFFF00"/>
                    </a:highlight>
                  </a:rPr>
                  <a:t>In simple words</a:t>
                </a:r>
                <a:endParaRPr lang="en-US" dirty="0">
                  <a:highlight>
                    <a:srgbClr val="FFFF00"/>
                  </a:highlight>
                </a:endParaRPr>
              </a:p>
              <a:p>
                <a:r>
                  <a:rPr lang="en-US" i="1" dirty="0"/>
                  <a:t>       </a:t>
                </a:r>
                <a:r>
                  <a:rPr lang="en-US" i="1" dirty="0">
                    <a:highlight>
                      <a:srgbClr val="FFFF00"/>
                    </a:highlight>
                  </a:rPr>
                  <a:t>SVD finds the </a:t>
                </a:r>
                <a:r>
                  <a:rPr lang="en-US" b="1" i="1" dirty="0">
                    <a:highlight>
                      <a:srgbClr val="FFFF00"/>
                    </a:highlight>
                  </a:rPr>
                  <a:t>most important directions</a:t>
                </a:r>
                <a:r>
                  <a:rPr lang="en-US" i="1" dirty="0">
                    <a:highlight>
                      <a:srgbClr val="FFFF00"/>
                    </a:highlight>
                  </a:rPr>
                  <a:t> in your data and tells you </a:t>
                </a:r>
                <a:r>
                  <a:rPr lang="en-US" b="1" i="1" dirty="0">
                    <a:highlight>
                      <a:srgbClr val="FFFF00"/>
                    </a:highlight>
                  </a:rPr>
                  <a:t>how much information</a:t>
                </a:r>
                <a:r>
                  <a:rPr lang="en-US" i="1" dirty="0">
                    <a:highlight>
                      <a:srgbClr val="FFFF00"/>
                    </a:highlight>
                  </a:rPr>
                  <a:t> each direction carries.</a:t>
                </a:r>
              </a:p>
              <a:p>
                <a:endParaRPr lang="en-US" i="1" dirty="0">
                  <a:highlight>
                    <a:srgbClr val="FFFF00"/>
                  </a:highlight>
                </a:endParaRPr>
              </a:p>
              <a:p>
                <a:endParaRPr lang="ar-AE" b="0" dirty="0">
                  <a:highlight>
                    <a:srgbClr val="FFFF00"/>
                  </a:highlight>
                </a:endParaRPr>
              </a:p>
              <a:p>
                <a:endParaRPr lang="ro-RO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27DDC4F-DD6C-3215-B389-BD1A9F002D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578" y="608873"/>
                <a:ext cx="12049422" cy="5909310"/>
              </a:xfrm>
              <a:prstGeom prst="rect">
                <a:avLst/>
              </a:prstGeom>
              <a:blipFill>
                <a:blip r:embed="rId2"/>
                <a:stretch>
                  <a:fillRect l="-405" t="-516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25129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7DB1117-36FB-8DD7-FBCF-32A9C0A14D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43965"/>
            <a:ext cx="5418108" cy="19985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47C0AB6-B964-4E79-61CF-BE94617BF9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5568593" cy="289731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350F517-509F-0526-E3DA-3199DA3A0F91}"/>
                  </a:ext>
                </a:extLst>
              </p14:cNvPr>
              <p14:cNvContentPartPr/>
              <p14:nvPr/>
            </p14:nvContentPartPr>
            <p14:xfrm>
              <a:off x="4292300" y="4943700"/>
              <a:ext cx="228600" cy="223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350F517-509F-0526-E3DA-3199DA3A0F9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238660" y="4836060"/>
                <a:ext cx="336240" cy="23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AE825655-E12B-27E7-96EA-055017D2FB85}"/>
                  </a:ext>
                </a:extLst>
              </p14:cNvPr>
              <p14:cNvContentPartPr/>
              <p14:nvPr/>
            </p14:nvContentPartPr>
            <p14:xfrm>
              <a:off x="1240340" y="4952700"/>
              <a:ext cx="224280" cy="50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AE825655-E12B-27E7-96EA-055017D2FB8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86340" y="4844700"/>
                <a:ext cx="331920" cy="22068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430D36F6-C05E-C6BA-1BFB-A3E55E009E88}"/>
              </a:ext>
            </a:extLst>
          </p:cNvPr>
          <p:cNvSpPr txBox="1"/>
          <p:nvPr/>
        </p:nvSpPr>
        <p:spPr>
          <a:xfrm>
            <a:off x="5418108" y="77967"/>
            <a:ext cx="6773892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DINOv3 is a new special </a:t>
            </a:r>
            <a:r>
              <a:rPr lang="en-US" b="1" dirty="0"/>
              <a:t>self-supervised model</a:t>
            </a:r>
            <a:r>
              <a:rPr lang="en-US" dirty="0"/>
              <a:t> that learns image features </a:t>
            </a:r>
            <a:r>
              <a:rPr lang="en-US" i="1" dirty="0"/>
              <a:t>without labels </a:t>
            </a:r>
            <a:r>
              <a:rPr lang="en-US" dirty="0"/>
              <a:t>released by Meta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Each pixel in the image has a </a:t>
            </a:r>
            <a:r>
              <a:rPr lang="en-US" b="1" dirty="0"/>
              <a:t>feature vector</a:t>
            </a:r>
            <a:r>
              <a:rPr lang="en-US" dirty="0"/>
              <a:t> (hundreds of values) describing what the model “sees”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These feature vectors live in a </a:t>
            </a:r>
            <a:r>
              <a:rPr lang="en-US" b="1" dirty="0"/>
              <a:t>high-dimensional space</a:t>
            </a:r>
            <a:r>
              <a:rPr lang="en-US" dirty="0"/>
              <a:t> — impossible to visualize directly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PCA reduces these </a:t>
            </a:r>
            <a:r>
              <a:rPr lang="en-US" b="1" dirty="0"/>
              <a:t>high-dimensional pixel features</a:t>
            </a:r>
            <a:r>
              <a:rPr lang="en-US" dirty="0"/>
              <a:t> to just </a:t>
            </a:r>
            <a:r>
              <a:rPr lang="en-US" b="1" dirty="0"/>
              <a:t>3 components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The 3 principal components are mapped to </a:t>
            </a:r>
            <a:r>
              <a:rPr lang="en-US" b="1" dirty="0"/>
              <a:t>RGB colors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Similar colors = pixels that the network considers </a:t>
            </a:r>
            <a:r>
              <a:rPr lang="en-US" b="1" dirty="0"/>
              <a:t>semantically similar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This lets us </a:t>
            </a:r>
            <a:r>
              <a:rPr lang="en-US" b="1" dirty="0"/>
              <a:t>see</a:t>
            </a:r>
            <a:r>
              <a:rPr lang="en-US" dirty="0"/>
              <a:t> how the model internally organizes the image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668F0F-F002-FDA2-655D-D607529455DD}"/>
              </a:ext>
            </a:extLst>
          </p:cNvPr>
          <p:cNvSpPr txBox="1"/>
          <p:nvPr/>
        </p:nvSpPr>
        <p:spPr>
          <a:xfrm>
            <a:off x="1001029" y="5789215"/>
            <a:ext cx="1065516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</a:rPr>
              <a:t>PCA makes the model’s feature space visible —</a:t>
            </a:r>
            <a:br>
              <a:rPr lang="en-US" sz="2400" dirty="0">
                <a:highlight>
                  <a:srgbClr val="FFFF00"/>
                </a:highlight>
              </a:rPr>
            </a:br>
            <a:r>
              <a:rPr lang="en-US" sz="2400" dirty="0">
                <a:highlight>
                  <a:srgbClr val="FFFF00"/>
                </a:highlight>
              </a:rPr>
              <a:t>it helps researchers </a:t>
            </a:r>
            <a:r>
              <a:rPr lang="en-US" sz="2400" b="1" dirty="0">
                <a:highlight>
                  <a:srgbClr val="FFFF00"/>
                </a:highlight>
              </a:rPr>
              <a:t>interpret, debug, and trust</a:t>
            </a:r>
            <a:r>
              <a:rPr lang="en-US" sz="2400" dirty="0">
                <a:highlight>
                  <a:srgbClr val="FFFF00"/>
                </a:highlight>
              </a:rPr>
              <a:t> how AI “understands” images.</a:t>
            </a:r>
            <a:endParaRPr lang="ro-RO" sz="24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1757803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12E8B3E6-31B2-F9B2-FC22-F87D8A1DEB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937" y="251191"/>
            <a:ext cx="3533425" cy="350942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5163AB2-DF1F-632F-D860-765E424DEC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4163" y="251190"/>
            <a:ext cx="3533426" cy="350943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C1056A8-348A-4C29-0323-A0C4D741BD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1390" y="255041"/>
            <a:ext cx="3533425" cy="350942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1256E41-5DC9-1949-0D43-562B536D4AEA}"/>
              </a:ext>
            </a:extLst>
          </p:cNvPr>
          <p:cNvSpPr txBox="1"/>
          <p:nvPr/>
        </p:nvSpPr>
        <p:spPr>
          <a:xfrm>
            <a:off x="114550" y="3893766"/>
            <a:ext cx="1227316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At my current job, we leverage </a:t>
            </a:r>
            <a:r>
              <a:rPr lang="en-US" b="1" dirty="0"/>
              <a:t>DINOv3</a:t>
            </a:r>
            <a:r>
              <a:rPr lang="en-US" dirty="0"/>
              <a:t> to segment teeth in smile images.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pixel in the image has a </a:t>
            </a:r>
            <a:r>
              <a:rPr lang="en-US" b="1" dirty="0"/>
              <a:t>high-dimensional feature vector</a:t>
            </a:r>
            <a:r>
              <a:rPr lang="en-US" dirty="0"/>
              <a:t> that encodes semantic meaning.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Using </a:t>
            </a:r>
            <a:r>
              <a:rPr lang="en-US" b="1" dirty="0"/>
              <a:t>PCA</a:t>
            </a:r>
            <a:r>
              <a:rPr lang="en-US" dirty="0"/>
              <a:t>, we can </a:t>
            </a:r>
            <a:r>
              <a:rPr lang="en-US" i="1" dirty="0"/>
              <a:t>project</a:t>
            </a:r>
            <a:r>
              <a:rPr lang="en-US" dirty="0"/>
              <a:t> these features into 3D RGB space to </a:t>
            </a:r>
            <a:r>
              <a:rPr lang="en-US" b="1" dirty="0"/>
              <a:t>visualize what DINO “understands”</a:t>
            </a:r>
            <a:r>
              <a:rPr lang="en-US" dirty="0"/>
              <a:t> about the image.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Left &amp; Middle:</a:t>
            </a:r>
            <a:r>
              <a:rPr lang="en-US" dirty="0"/>
              <a:t> DINO correctly segments individual teeth with distinct PCA colors.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highlight>
                  <a:srgbClr val="FFFF00"/>
                </a:highlight>
              </a:rPr>
              <a:t>Right:</a:t>
            </a:r>
            <a:r>
              <a:rPr lang="en-US" dirty="0">
                <a:highlight>
                  <a:srgbClr val="FFFF00"/>
                </a:highlight>
              </a:rPr>
              <a:t> Remarkably, </a:t>
            </a:r>
            <a:r>
              <a:rPr lang="en-US" b="1" dirty="0">
                <a:highlight>
                  <a:srgbClr val="FFFF00"/>
                </a:highlight>
              </a:rPr>
              <a:t>tooth 16</a:t>
            </a:r>
            <a:r>
              <a:rPr lang="en-US" dirty="0">
                <a:highlight>
                  <a:srgbClr val="FFFF00"/>
                </a:highlight>
              </a:rPr>
              <a:t> (unlabeled in the ground truth) is still detected by DINO —</a:t>
            </a:r>
            <a:br>
              <a:rPr lang="en-US" dirty="0">
                <a:highlight>
                  <a:srgbClr val="FFFF00"/>
                </a:highlight>
              </a:rPr>
            </a:br>
            <a:r>
              <a:rPr lang="en-US" b="1" dirty="0">
                <a:highlight>
                  <a:srgbClr val="FFFF00"/>
                </a:highlight>
              </a:rPr>
              <a:t>PCA visualization exposes that the model </a:t>
            </a:r>
            <a:r>
              <a:rPr lang="en-US" b="1" i="1" dirty="0">
                <a:highlight>
                  <a:srgbClr val="FFFF00"/>
                </a:highlight>
              </a:rPr>
              <a:t>internally recognizes</a:t>
            </a:r>
            <a:r>
              <a:rPr lang="en-US" b="1" dirty="0">
                <a:highlight>
                  <a:srgbClr val="FFFF00"/>
                </a:highlight>
              </a:rPr>
              <a:t> this tooth region</a:t>
            </a:r>
            <a:r>
              <a:rPr lang="en-US" dirty="0">
                <a:highlight>
                  <a:srgbClr val="FFFF00"/>
                </a:highlight>
              </a:rPr>
              <a:t>.</a:t>
            </a:r>
            <a:endParaRPr lang="ro-RO" dirty="0">
              <a:highlight>
                <a:srgbClr val="FFFF00"/>
              </a:highlight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484FC9C-724D-5EC5-7812-F68A36736C16}"/>
              </a:ext>
            </a:extLst>
          </p:cNvPr>
          <p:cNvGrpSpPr/>
          <p:nvPr/>
        </p:nvGrpSpPr>
        <p:grpSpPr>
          <a:xfrm>
            <a:off x="7939933" y="1144819"/>
            <a:ext cx="743760" cy="924840"/>
            <a:chOff x="7939933" y="1144819"/>
            <a:chExt cx="743760" cy="92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E23F836-D62E-25F3-332D-F2F7848461AD}"/>
                    </a:ext>
                  </a:extLst>
                </p14:cNvPr>
                <p14:cNvContentPartPr/>
                <p14:nvPr/>
              </p14:nvContentPartPr>
              <p14:xfrm>
                <a:off x="7939933" y="1148419"/>
                <a:ext cx="578880" cy="9212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E23F836-D62E-25F3-332D-F2F7848461A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921933" y="1130419"/>
                  <a:ext cx="614520" cy="9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0210E94-4002-F609-A31D-93762EA72D8B}"/>
                    </a:ext>
                  </a:extLst>
                </p14:cNvPr>
                <p14:cNvContentPartPr/>
                <p14:nvPr/>
              </p14:nvContentPartPr>
              <p14:xfrm>
                <a:off x="8412613" y="1144819"/>
                <a:ext cx="271080" cy="4237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0210E94-4002-F609-A31D-93762EA72D8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394613" y="1126819"/>
                  <a:ext cx="306720" cy="459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29704686-2BF6-DAFC-31C7-5CBFB71962B0}"/>
                  </a:ext>
                </a:extLst>
              </p14:cNvPr>
              <p14:cNvContentPartPr/>
              <p14:nvPr/>
            </p14:nvContentPartPr>
            <p14:xfrm>
              <a:off x="8508373" y="1925299"/>
              <a:ext cx="65520" cy="12528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29704686-2BF6-DAFC-31C7-5CBFB71962B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490733" y="1907299"/>
                <a:ext cx="101160" cy="160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33337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01A73-BA7F-5923-772F-DBA4DD2F3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3800" y="2388658"/>
            <a:ext cx="10515600" cy="1325563"/>
          </a:xfrm>
        </p:spPr>
        <p:txBody>
          <a:bodyPr>
            <a:normAutofit/>
          </a:bodyPr>
          <a:lstStyle/>
          <a:p>
            <a:r>
              <a:rPr lang="en-US" sz="7200" dirty="0"/>
              <a:t>Code part</a:t>
            </a:r>
          </a:p>
        </p:txBody>
      </p:sp>
    </p:spTree>
    <p:extLst>
      <p:ext uri="{BB962C8B-B14F-4D97-AF65-F5344CB8AC3E}">
        <p14:creationId xmlns:p14="http://schemas.microsoft.com/office/powerpoint/2010/main" val="40158747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2DFB06E-DED3-1CDB-F33A-315D355B03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6986" y="0"/>
            <a:ext cx="6418028" cy="2522508"/>
          </a:xfrm>
          <a:prstGeom prst="rect">
            <a:avLst/>
          </a:prstGeom>
        </p:spPr>
      </p:pic>
      <p:sp>
        <p:nvSpPr>
          <p:cNvPr id="6" name="Arrow: Down 5">
            <a:extLst>
              <a:ext uri="{FF2B5EF4-FFF2-40B4-BE49-F238E27FC236}">
                <a16:creationId xmlns:a16="http://schemas.microsoft.com/office/drawing/2014/main" id="{0ACF27AC-7A14-B797-DB66-47385D0A7F69}"/>
              </a:ext>
            </a:extLst>
          </p:cNvPr>
          <p:cNvSpPr/>
          <p:nvPr/>
        </p:nvSpPr>
        <p:spPr>
          <a:xfrm>
            <a:off x="5887720" y="2587134"/>
            <a:ext cx="416560" cy="69088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FBAD3D5-E80B-676B-856C-9F840BAC51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377" y="3342640"/>
            <a:ext cx="3793806" cy="351536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746A431-FF6C-77F3-BC0C-20C4D6B729AD}"/>
              </a:ext>
            </a:extLst>
          </p:cNvPr>
          <p:cNvSpPr txBox="1"/>
          <p:nvPr/>
        </p:nvSpPr>
        <p:spPr>
          <a:xfrm rot="678862">
            <a:off x="8135069" y="4741519"/>
            <a:ext cx="20452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Z-axis (X[:, 2])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743CB33-D276-EA8F-1585-F74E71660F2A}"/>
              </a:ext>
            </a:extLst>
          </p:cNvPr>
          <p:cNvSpPr/>
          <p:nvPr/>
        </p:nvSpPr>
        <p:spPr>
          <a:xfrm>
            <a:off x="-85621" y="2932574"/>
            <a:ext cx="4557658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8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Our 3D dataset:</a:t>
            </a:r>
          </a:p>
        </p:txBody>
      </p:sp>
    </p:spTree>
    <p:extLst>
      <p:ext uri="{BB962C8B-B14F-4D97-AF65-F5344CB8AC3E}">
        <p14:creationId xmlns:p14="http://schemas.microsoft.com/office/powerpoint/2010/main" val="5454526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64E2D5-0D5E-DD55-CD8D-113EEADE33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3856" y="0"/>
            <a:ext cx="6493099" cy="18084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13A4520-2502-A786-C25D-21D7369AC0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3856" y="2386318"/>
            <a:ext cx="5381825" cy="106873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278662B-B0CF-872A-D1BD-459B312F2557}"/>
              </a:ext>
            </a:extLst>
          </p:cNvPr>
          <p:cNvSpPr/>
          <p:nvPr/>
        </p:nvSpPr>
        <p:spPr>
          <a:xfrm>
            <a:off x="-531441" y="13590"/>
            <a:ext cx="6094260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</a:t>
            </a:r>
            <a:r>
              <a:rPr lang="en-US" b="1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eature scaling/mean normalization: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F48A85E-FA76-D985-7236-43378B121AE5}"/>
              </a:ext>
            </a:extLst>
          </p:cNvPr>
          <p:cNvSpPr/>
          <p:nvPr/>
        </p:nvSpPr>
        <p:spPr>
          <a:xfrm>
            <a:off x="1279363" y="2899125"/>
            <a:ext cx="3468333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</a:t>
            </a:r>
            <a:r>
              <a:rPr lang="en-US" b="1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btain the reduced dataset: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80DA1F-98AA-F665-20BD-6CD19ADF3C30}"/>
              </a:ext>
            </a:extLst>
          </p:cNvPr>
          <p:cNvSpPr/>
          <p:nvPr/>
        </p:nvSpPr>
        <p:spPr>
          <a:xfrm>
            <a:off x="-711746" y="426992"/>
            <a:ext cx="6094260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apply SVD (single value decomposition)</a:t>
            </a:r>
            <a:r>
              <a:rPr lang="en-US" b="1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F4A410-13FB-3C37-CD71-A13276DD4C07}"/>
              </a:ext>
            </a:extLst>
          </p:cNvPr>
          <p:cNvSpPr/>
          <p:nvPr/>
        </p:nvSpPr>
        <p:spPr>
          <a:xfrm>
            <a:off x="1" y="944989"/>
            <a:ext cx="4624478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</a:t>
            </a:r>
            <a:r>
              <a:rPr lang="en-US" b="1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xtract the 2 unit vectors that define the first 2 PCs :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4736E51-9736-3766-3556-48010EA24C00}"/>
              </a:ext>
            </a:extLst>
          </p:cNvPr>
          <p:cNvGrpSpPr/>
          <p:nvPr/>
        </p:nvGrpSpPr>
        <p:grpSpPr>
          <a:xfrm>
            <a:off x="3037760" y="1462960"/>
            <a:ext cx="1378800" cy="1099080"/>
            <a:chOff x="3037760" y="1462960"/>
            <a:chExt cx="1378800" cy="109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FBDAE03-E594-D54E-A481-1B35F3CAD61B}"/>
                    </a:ext>
                  </a:extLst>
                </p14:cNvPr>
                <p14:cNvContentPartPr/>
                <p14:nvPr/>
              </p14:nvContentPartPr>
              <p14:xfrm>
                <a:off x="3037760" y="1462960"/>
                <a:ext cx="1341000" cy="10922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FBDAE03-E594-D54E-A481-1B35F3CAD61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020120" y="1445320"/>
                  <a:ext cx="1376640" cy="11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2423E97-8FA5-12AC-968E-B85447360338}"/>
                    </a:ext>
                  </a:extLst>
                </p14:cNvPr>
                <p14:cNvContentPartPr/>
                <p14:nvPr/>
              </p14:nvContentPartPr>
              <p14:xfrm>
                <a:off x="4246640" y="2373040"/>
                <a:ext cx="169920" cy="1890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2423E97-8FA5-12AC-968E-B8544736033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228640" y="2355400"/>
                  <a:ext cx="205560" cy="22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BADA91C-D87E-2299-5001-9A8DD3699F89}"/>
              </a:ext>
            </a:extLst>
          </p:cNvPr>
          <p:cNvGrpSpPr/>
          <p:nvPr/>
        </p:nvGrpSpPr>
        <p:grpSpPr>
          <a:xfrm>
            <a:off x="3047840" y="1310320"/>
            <a:ext cx="1415880" cy="193680"/>
            <a:chOff x="3047840" y="1310320"/>
            <a:chExt cx="1415880" cy="193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7FB249C-A5C8-E43A-35B7-FD9244D0CF44}"/>
                    </a:ext>
                  </a:extLst>
                </p14:cNvPr>
                <p14:cNvContentPartPr/>
                <p14:nvPr/>
              </p14:nvContentPartPr>
              <p14:xfrm>
                <a:off x="3047840" y="1380880"/>
                <a:ext cx="1348920" cy="838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7FB249C-A5C8-E43A-35B7-FD9244D0CF4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030200" y="1362880"/>
                  <a:ext cx="138456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42F48FA-19CD-5621-07AE-F84F0FAA6DF1}"/>
                    </a:ext>
                  </a:extLst>
                </p14:cNvPr>
                <p14:cNvContentPartPr/>
                <p14:nvPr/>
              </p14:nvContentPartPr>
              <p14:xfrm>
                <a:off x="4246640" y="1310320"/>
                <a:ext cx="217080" cy="1936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42F48FA-19CD-5621-07AE-F84F0FAA6DF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228640" y="1292680"/>
                  <a:ext cx="252720" cy="22932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8DD1F323-A8EB-D766-1518-AF097FA30E2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52348" y="3920403"/>
            <a:ext cx="3399092" cy="2937597"/>
          </a:xfrm>
          <a:prstGeom prst="rect">
            <a:avLst/>
          </a:prstGeom>
        </p:spPr>
      </p:pic>
      <p:sp>
        <p:nvSpPr>
          <p:cNvPr id="20" name="Arrow: Right 19">
            <a:extLst>
              <a:ext uri="{FF2B5EF4-FFF2-40B4-BE49-F238E27FC236}">
                <a16:creationId xmlns:a16="http://schemas.microsoft.com/office/drawing/2014/main" id="{72717E97-92A2-A4A7-3D70-7CE0F4642FDD}"/>
              </a:ext>
            </a:extLst>
          </p:cNvPr>
          <p:cNvSpPr/>
          <p:nvPr/>
        </p:nvSpPr>
        <p:spPr>
          <a:xfrm>
            <a:off x="5299013" y="5018226"/>
            <a:ext cx="1344422" cy="55961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DFDE401-5A75-FBCE-16C9-98E4FB69DAE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1778" y="3619048"/>
            <a:ext cx="4458322" cy="3238952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A6E60583-97C8-F777-088F-4A969A1D3119}"/>
              </a:ext>
            </a:extLst>
          </p:cNvPr>
          <p:cNvGrpSpPr/>
          <p:nvPr/>
        </p:nvGrpSpPr>
        <p:grpSpPr>
          <a:xfrm>
            <a:off x="4196240" y="5709520"/>
            <a:ext cx="560880" cy="661320"/>
            <a:chOff x="4196240" y="5709520"/>
            <a:chExt cx="560880" cy="661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4A44795-8153-A604-AAB7-12C8291FCD66}"/>
                    </a:ext>
                  </a:extLst>
                </p14:cNvPr>
                <p14:cNvContentPartPr/>
                <p14:nvPr/>
              </p14:nvContentPartPr>
              <p14:xfrm>
                <a:off x="4196240" y="5709520"/>
                <a:ext cx="452160" cy="5112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4A44795-8153-A604-AAB7-12C8291FCD6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178240" y="5691880"/>
                  <a:ext cx="487800" cy="54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3EAC45C-9293-0397-A8E6-4B356C2154DD}"/>
                    </a:ext>
                  </a:extLst>
                </p14:cNvPr>
                <p14:cNvContentPartPr/>
                <p14:nvPr/>
              </p14:nvContentPartPr>
              <p14:xfrm>
                <a:off x="4389200" y="6063400"/>
                <a:ext cx="367920" cy="3074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3EAC45C-9293-0397-A8E6-4B356C2154D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371200" y="6045760"/>
                  <a:ext cx="403560" cy="343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E3C651AF-DFDA-6D7B-3A14-5C0EFAC6BF65}"/>
                  </a:ext>
                </a:extLst>
              </p14:cNvPr>
              <p14:cNvContentPartPr/>
              <p14:nvPr/>
            </p14:nvContentPartPr>
            <p14:xfrm>
              <a:off x="10292120" y="5039200"/>
              <a:ext cx="589680" cy="43560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E3C651AF-DFDA-6D7B-3A14-5C0EFAC6BF6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0274480" y="5021200"/>
                <a:ext cx="625320" cy="47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7889734A-3C10-B8D6-57CB-489C0C65A7C9}"/>
                  </a:ext>
                </a:extLst>
              </p14:cNvPr>
              <p14:cNvContentPartPr/>
              <p14:nvPr/>
            </p14:nvContentPartPr>
            <p14:xfrm>
              <a:off x="10738880" y="5335840"/>
              <a:ext cx="207000" cy="1911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7889734A-3C10-B8D6-57CB-489C0C65A7C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0721240" y="5318200"/>
                <a:ext cx="242640" cy="226800"/>
              </a:xfrm>
              <a:prstGeom prst="rect">
                <a:avLst/>
              </a:prstGeom>
            </p:spPr>
          </p:pic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BB029853-62F0-F76E-178F-0CD1D1D964C4}"/>
              </a:ext>
            </a:extLst>
          </p:cNvPr>
          <p:cNvSpPr txBox="1"/>
          <p:nvPr/>
        </p:nvSpPr>
        <p:spPr>
          <a:xfrm>
            <a:off x="10460622" y="5565010"/>
            <a:ext cx="2199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X2D_using_svd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CF3E90F-B98D-4BF2-99F2-CD3E623177F8}"/>
              </a:ext>
            </a:extLst>
          </p:cNvPr>
          <p:cNvSpPr txBox="1"/>
          <p:nvPr/>
        </p:nvSpPr>
        <p:spPr>
          <a:xfrm>
            <a:off x="4734953" y="6259766"/>
            <a:ext cx="1229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5870763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54270-9EDB-0A7E-7C45-6908835AF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…or in a simpler way…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C76A4D7-5BB8-6725-341A-A5F73E2D91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49006" y="1690688"/>
            <a:ext cx="5067233" cy="1357534"/>
          </a:xfr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45FA9835-9DE2-B5F5-EFC8-955881E12FC5}"/>
              </a:ext>
            </a:extLst>
          </p:cNvPr>
          <p:cNvGrpSpPr/>
          <p:nvPr/>
        </p:nvGrpSpPr>
        <p:grpSpPr>
          <a:xfrm>
            <a:off x="3271040" y="2997280"/>
            <a:ext cx="1615320" cy="1202760"/>
            <a:chOff x="3271040" y="2997280"/>
            <a:chExt cx="1615320" cy="1202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57175C0-38CB-1CB6-CBB3-38D587F82B43}"/>
                    </a:ext>
                  </a:extLst>
                </p14:cNvPr>
                <p14:cNvContentPartPr/>
                <p14:nvPr/>
              </p14:nvContentPartPr>
              <p14:xfrm>
                <a:off x="3271040" y="2997280"/>
                <a:ext cx="1461240" cy="11350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57175C0-38CB-1CB6-CBB3-38D587F82B43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253400" y="2979280"/>
                  <a:ext cx="1496880" cy="11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B447802-3624-77BF-DE1C-8C0CDB1E659A}"/>
                    </a:ext>
                  </a:extLst>
                </p14:cNvPr>
                <p14:cNvContentPartPr/>
                <p14:nvPr/>
              </p14:nvContentPartPr>
              <p14:xfrm>
                <a:off x="4582160" y="3981160"/>
                <a:ext cx="304200" cy="2188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B447802-3624-77BF-DE1C-8C0CDB1E659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564160" y="3963520"/>
                  <a:ext cx="339840" cy="2545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0635CC3C-992D-EC6B-6D85-7542857EC8EB}"/>
              </a:ext>
            </a:extLst>
          </p:cNvPr>
          <p:cNvSpPr txBox="1"/>
          <p:nvPr/>
        </p:nvSpPr>
        <p:spPr>
          <a:xfrm>
            <a:off x="4886360" y="4090600"/>
            <a:ext cx="4521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same with previous X2D_using_svd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D208229-08B8-9BB2-4622-16CEF1529E8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4200040"/>
            <a:ext cx="3788271" cy="264298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DD2CDA6-DA7C-D563-5BDF-40DAFD91F24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52838" y="5427441"/>
            <a:ext cx="6239162" cy="143055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5072E446-676A-5A31-1976-13267B927DD0}"/>
              </a:ext>
            </a:extLst>
          </p:cNvPr>
          <p:cNvSpPr txBox="1"/>
          <p:nvPr/>
        </p:nvSpPr>
        <p:spPr>
          <a:xfrm>
            <a:off x="5872480" y="5021339"/>
            <a:ext cx="6126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is how we can see the components computed by PCA:</a:t>
            </a:r>
          </a:p>
        </p:txBody>
      </p:sp>
    </p:spTree>
    <p:extLst>
      <p:ext uri="{BB962C8B-B14F-4D97-AF65-F5344CB8AC3E}">
        <p14:creationId xmlns:p14="http://schemas.microsoft.com/office/powerpoint/2010/main" val="39372050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098FE00-70C3-8BCF-A891-DA2C573B4B6A}"/>
              </a:ext>
            </a:extLst>
          </p:cNvPr>
          <p:cNvSpPr txBox="1"/>
          <p:nvPr/>
        </p:nvSpPr>
        <p:spPr>
          <a:xfrm>
            <a:off x="0" y="807747"/>
            <a:ext cx="118465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we can transform the data back to the original space, obtaining </a:t>
            </a:r>
            <a:r>
              <a:rPr lang="en-US" sz="2800" i="1" dirty="0"/>
              <a:t>X</a:t>
            </a:r>
            <a:r>
              <a:rPr lang="en-US" sz="2800" dirty="0"/>
              <a:t>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65A09D-32EF-2CC7-F7CF-6184FCA84D20}"/>
              </a:ext>
            </a:extLst>
          </p:cNvPr>
          <p:cNvSpPr txBox="1"/>
          <p:nvPr/>
        </p:nvSpPr>
        <p:spPr>
          <a:xfrm>
            <a:off x="10132060" y="656881"/>
            <a:ext cx="16967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/>
              <a:t>^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2D95F2D-1DE3-A8F5-CF98-E0EBE7FF50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5706" y="1769402"/>
            <a:ext cx="7812512" cy="72995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4D1AB86-1E4C-7056-D26B-196B39EB83F1}"/>
              </a:ext>
            </a:extLst>
          </p:cNvPr>
          <p:cNvSpPr txBox="1"/>
          <p:nvPr/>
        </p:nvSpPr>
        <p:spPr>
          <a:xfrm>
            <a:off x="0" y="2812370"/>
            <a:ext cx="118465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of course, there was some loss of information during the projection step, so the recovered 3D points are not exactly equal to the original 3D points: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833147B-2E8C-FE46-F1CE-77F4927F90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4083" y="4079488"/>
            <a:ext cx="3825389" cy="127031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FB2A86A-4910-1606-6F8D-8D02B5DC5C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5220" y="5527054"/>
            <a:ext cx="7181560" cy="1330946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1CBF8D42-BC8D-5557-4D94-4AD7F62D6E62}"/>
              </a:ext>
            </a:extLst>
          </p:cNvPr>
          <p:cNvGrpSpPr/>
          <p:nvPr/>
        </p:nvGrpSpPr>
        <p:grpSpPr>
          <a:xfrm>
            <a:off x="1198160" y="5197240"/>
            <a:ext cx="1250640" cy="1356120"/>
            <a:chOff x="1198160" y="5197240"/>
            <a:chExt cx="1250640" cy="135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B968D08-0FF5-34D8-98BD-70858DA8C717}"/>
                    </a:ext>
                  </a:extLst>
                </p14:cNvPr>
                <p14:cNvContentPartPr/>
                <p14:nvPr/>
              </p14:nvContentPartPr>
              <p14:xfrm>
                <a:off x="1235240" y="5310640"/>
                <a:ext cx="1213560" cy="12427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B968D08-0FF5-34D8-98BD-70858DA8C71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217600" y="5292640"/>
                  <a:ext cx="1249200" cy="127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2F6DF8E-89CB-8F45-8830-A0EF0FCABB28}"/>
                    </a:ext>
                  </a:extLst>
                </p14:cNvPr>
                <p14:cNvContentPartPr/>
                <p14:nvPr/>
              </p14:nvContentPartPr>
              <p14:xfrm>
                <a:off x="1198160" y="5197240"/>
                <a:ext cx="165960" cy="2487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2F6DF8E-89CB-8F45-8830-A0EF0FCABB2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180160" y="5179600"/>
                  <a:ext cx="201600" cy="2844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63FBEF39-A356-AD07-70E3-592507A511BB}"/>
              </a:ext>
            </a:extLst>
          </p:cNvPr>
          <p:cNvSpPr txBox="1"/>
          <p:nvPr/>
        </p:nvSpPr>
        <p:spPr>
          <a:xfrm>
            <a:off x="-67825" y="4853830"/>
            <a:ext cx="25319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reconstruction error</a:t>
            </a:r>
          </a:p>
        </p:txBody>
      </p:sp>
    </p:spTree>
    <p:extLst>
      <p:ext uri="{BB962C8B-B14F-4D97-AF65-F5344CB8AC3E}">
        <p14:creationId xmlns:p14="http://schemas.microsoft.com/office/powerpoint/2010/main" val="29120357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0349F76-A48E-A532-B542-0E154181DA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3640" y="1159463"/>
            <a:ext cx="6142574" cy="17133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7967931-1CC6-9C87-EECD-E9432E0AF5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5785" y="4228733"/>
            <a:ext cx="5220429" cy="26292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8C54256-5C30-2109-C172-FFC580059C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0727" y="2892499"/>
            <a:ext cx="7026102" cy="1246346"/>
          </a:xfrm>
          <a:prstGeom prst="rect">
            <a:avLst/>
          </a:prstGeom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7A48572A-093A-9D78-1C50-4E66F1233896}"/>
              </a:ext>
            </a:extLst>
          </p:cNvPr>
          <p:cNvSpPr/>
          <p:nvPr/>
        </p:nvSpPr>
        <p:spPr>
          <a:xfrm>
            <a:off x="493332" y="5211266"/>
            <a:ext cx="2503867" cy="68153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E778FBB-36E0-210E-2911-CF3CD040FCEF}"/>
              </a:ext>
            </a:extLst>
          </p:cNvPr>
          <p:cNvSpPr txBox="1"/>
          <p:nvPr/>
        </p:nvSpPr>
        <p:spPr>
          <a:xfrm>
            <a:off x="379479" y="5781300"/>
            <a:ext cx="26720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plot_digits</a:t>
            </a:r>
            <a:r>
              <a:rPr lang="en-US" b="1" dirty="0">
                <a:solidFill>
                  <a:srgbClr val="FF0000"/>
                </a:solidFill>
              </a:rPr>
              <a:t>() function from the lab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5DA9A5A-3B1C-1EA7-0D00-40BFDACD549C}"/>
              </a:ext>
            </a:extLst>
          </p:cNvPr>
          <p:cNvGrpSpPr/>
          <p:nvPr/>
        </p:nvGrpSpPr>
        <p:grpSpPr>
          <a:xfrm>
            <a:off x="8849240" y="4876480"/>
            <a:ext cx="1576440" cy="416880"/>
            <a:chOff x="8849240" y="4876480"/>
            <a:chExt cx="1576440" cy="41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CD2FCB1-273B-2556-02F1-8BC0253602DE}"/>
                    </a:ext>
                  </a:extLst>
                </p14:cNvPr>
                <p14:cNvContentPartPr/>
                <p14:nvPr/>
              </p14:nvContentPartPr>
              <p14:xfrm>
                <a:off x="8849240" y="4914640"/>
                <a:ext cx="1323000" cy="3787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CD2FCB1-273B-2556-02F1-8BC0253602D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831600" y="4897000"/>
                  <a:ext cx="1358640" cy="41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C73E6E7-3C81-A2BC-1B92-883FF5B8974D}"/>
                    </a:ext>
                  </a:extLst>
                </p14:cNvPr>
                <p14:cNvContentPartPr/>
                <p14:nvPr/>
              </p14:nvContentPartPr>
              <p14:xfrm>
                <a:off x="10027520" y="4876480"/>
                <a:ext cx="398160" cy="1857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C73E6E7-3C81-A2BC-1B92-883FF5B8974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009880" y="4858840"/>
                  <a:ext cx="433800" cy="2214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0D668A34-F834-4896-1034-7BCCCB54CCD8}"/>
              </a:ext>
            </a:extLst>
          </p:cNvPr>
          <p:cNvSpPr txBox="1"/>
          <p:nvPr/>
        </p:nvSpPr>
        <p:spPr>
          <a:xfrm>
            <a:off x="10476480" y="4623802"/>
            <a:ext cx="16037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X_recovered</a:t>
            </a:r>
            <a:endParaRPr lang="en-US" sz="20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79EEC3D7-44CB-F9B9-3DA1-81E626F346A5}"/>
                  </a:ext>
                </a:extLst>
              </p14:cNvPr>
              <p14:cNvContentPartPr/>
              <p14:nvPr/>
            </p14:nvContentPartPr>
            <p14:xfrm>
              <a:off x="2610080" y="4816360"/>
              <a:ext cx="763200" cy="18324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79EEC3D7-44CB-F9B9-3DA1-81E626F346A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592440" y="4798360"/>
                <a:ext cx="798840" cy="21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E1B43462-7C15-E5F3-4F59-8CF19F19BCC6}"/>
                  </a:ext>
                </a:extLst>
              </p14:cNvPr>
              <p14:cNvContentPartPr/>
              <p14:nvPr/>
            </p14:nvContentPartPr>
            <p14:xfrm>
              <a:off x="2563640" y="4763080"/>
              <a:ext cx="242640" cy="18504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E1B43462-7C15-E5F3-4F59-8CF19F19BCC6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545640" y="4745440"/>
                <a:ext cx="278280" cy="22068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88C2E731-A5F1-4FA6-9A59-E81C0D1F52B5}"/>
              </a:ext>
            </a:extLst>
          </p:cNvPr>
          <p:cNvSpPr txBox="1"/>
          <p:nvPr/>
        </p:nvSpPr>
        <p:spPr>
          <a:xfrm>
            <a:off x="1588747" y="4458122"/>
            <a:ext cx="1584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X_train</a:t>
            </a:r>
            <a:endParaRPr lang="en-US" sz="20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1352DF23-7944-6546-99D0-1A3D653D54E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563640" y="0"/>
            <a:ext cx="6366761" cy="1139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5649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A87E9-1A2B-E074-95D6-F62A25193F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2933" y="223520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3) </a:t>
            </a:r>
            <a:r>
              <a:rPr lang="en-US" sz="6000" dirty="0"/>
              <a:t>Locally linear embedding (LLE)</a:t>
            </a:r>
            <a:br>
              <a:rPr lang="en-US" sz="6000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02282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3323E8C-C961-F9DD-4AD5-32B8EA4C16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3158" y="543301"/>
            <a:ext cx="9465683" cy="261476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776B622-5239-1DD8-D6A9-C2DA7ECE7F14}"/>
              </a:ext>
            </a:extLst>
          </p:cNvPr>
          <p:cNvSpPr txBox="1"/>
          <p:nvPr/>
        </p:nvSpPr>
        <p:spPr>
          <a:xfrm>
            <a:off x="1896532" y="3244334"/>
            <a:ext cx="2472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Swiss roll dataset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F20D02-1F6C-9505-9D0E-A2EF685FCC94}"/>
              </a:ext>
            </a:extLst>
          </p:cNvPr>
          <p:cNvSpPr txBox="1"/>
          <p:nvPr/>
        </p:nvSpPr>
        <p:spPr>
          <a:xfrm>
            <a:off x="7611532" y="3158067"/>
            <a:ext cx="2472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Unroleld</a:t>
            </a:r>
            <a:r>
              <a:rPr lang="en-US" b="1" dirty="0"/>
              <a:t> Swiss roll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A29DC67C-AE03-6E2F-323C-E7B129A82889}"/>
              </a:ext>
            </a:extLst>
          </p:cNvPr>
          <p:cNvSpPr/>
          <p:nvPr/>
        </p:nvSpPr>
        <p:spPr>
          <a:xfrm>
            <a:off x="5606795" y="1608368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1BF885D-8374-0CA3-9D8D-2FB5273438F7}"/>
              </a:ext>
            </a:extLst>
          </p:cNvPr>
          <p:cNvSpPr txBox="1"/>
          <p:nvPr/>
        </p:nvSpPr>
        <p:spPr>
          <a:xfrm>
            <a:off x="177825" y="4056070"/>
            <a:ext cx="1192104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it’s a </a:t>
            </a:r>
            <a:r>
              <a:rPr lang="en-US" sz="2400" b="1" dirty="0">
                <a:highlight>
                  <a:srgbClr val="FFFF00"/>
                </a:highlight>
              </a:rPr>
              <a:t>manifold</a:t>
            </a:r>
            <a:r>
              <a:rPr lang="en-US" sz="2400" b="1" dirty="0"/>
              <a:t> </a:t>
            </a:r>
            <a:r>
              <a:rPr lang="en-US" sz="2400" dirty="0"/>
              <a:t>learning algorithm         it’s used for datasets like Swiss roll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in a nutshell, LLE works by:</a:t>
            </a:r>
          </a:p>
          <a:p>
            <a:pPr lvl="3"/>
            <a:r>
              <a:rPr lang="en-US" sz="2400" dirty="0"/>
              <a:t>1) measuring how each training instance linearly relates to it </a:t>
            </a:r>
            <a:r>
              <a:rPr lang="en-US" sz="2400" i="1" dirty="0"/>
              <a:t>closest neighbors</a:t>
            </a:r>
          </a:p>
          <a:p>
            <a:pPr lvl="3"/>
            <a:r>
              <a:rPr lang="en-US" sz="2400" dirty="0"/>
              <a:t>2) looking for a low-dimensional representation of the training set where these local relationships are best preserved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B408AB6-CA7B-E62F-B70A-53A102A69085}"/>
              </a:ext>
            </a:extLst>
          </p:cNvPr>
          <p:cNvCxnSpPr>
            <a:cxnSpLocks/>
          </p:cNvCxnSpPr>
          <p:nvPr/>
        </p:nvCxnSpPr>
        <p:spPr>
          <a:xfrm>
            <a:off x="4930140" y="4295883"/>
            <a:ext cx="42502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87760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BEBA925-6E86-04A3-C27D-A760665394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9619" y="0"/>
            <a:ext cx="7463641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5023570-0EB6-F68F-3F75-6113A68412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87457"/>
            <a:ext cx="2449555" cy="208308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1197DA3-9341-83E2-11CA-C0DBD6A86660}"/>
              </a:ext>
            </a:extLst>
          </p:cNvPr>
          <p:cNvSpPr txBox="1"/>
          <p:nvPr/>
        </p:nvSpPr>
        <p:spPr>
          <a:xfrm>
            <a:off x="10173260" y="0"/>
            <a:ext cx="16292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Don’t worry about it </a:t>
            </a:r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 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50600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01A73-BA7F-5923-772F-DBA4DD2F3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3800" y="2388658"/>
            <a:ext cx="10515600" cy="1325563"/>
          </a:xfrm>
        </p:spPr>
        <p:txBody>
          <a:bodyPr>
            <a:normAutofit/>
          </a:bodyPr>
          <a:lstStyle/>
          <a:p>
            <a:r>
              <a:rPr lang="en-US" sz="7200" dirty="0"/>
              <a:t>Code part</a:t>
            </a:r>
          </a:p>
        </p:txBody>
      </p:sp>
    </p:spTree>
    <p:extLst>
      <p:ext uri="{BB962C8B-B14F-4D97-AF65-F5344CB8AC3E}">
        <p14:creationId xmlns:p14="http://schemas.microsoft.com/office/powerpoint/2010/main" val="37769028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B2B4763-3025-8F8F-B5B4-EDACF1B353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4096" y="0"/>
            <a:ext cx="8449954" cy="10329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DEAC6D0-DE58-52C3-D0DE-C991BF2096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1729" y="3866733"/>
            <a:ext cx="3620005" cy="2991267"/>
          </a:xfrm>
          <a:prstGeom prst="rect">
            <a:avLst/>
          </a:prstGeom>
        </p:spPr>
      </p:pic>
      <p:sp>
        <p:nvSpPr>
          <p:cNvPr id="10" name="Arrow: Down 9">
            <a:extLst>
              <a:ext uri="{FF2B5EF4-FFF2-40B4-BE49-F238E27FC236}">
                <a16:creationId xmlns:a16="http://schemas.microsoft.com/office/drawing/2014/main" id="{690F1EAD-FF59-5CC7-E9CC-6F09835EFC64}"/>
              </a:ext>
            </a:extLst>
          </p:cNvPr>
          <p:cNvSpPr/>
          <p:nvPr/>
        </p:nvSpPr>
        <p:spPr>
          <a:xfrm>
            <a:off x="5159415" y="1219200"/>
            <a:ext cx="538652" cy="299126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452608B-8FF5-2A9A-8E1A-07FB99DA4C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8067" y="1319290"/>
            <a:ext cx="3933784" cy="2447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4684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0542105-A6F4-9B8F-C442-14D18DBEB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2074" y="0"/>
            <a:ext cx="8595451" cy="1166344"/>
          </a:xfrm>
          <a:prstGeom prst="rect">
            <a:avLst/>
          </a:prstGeom>
        </p:spPr>
      </p:pic>
      <p:sp>
        <p:nvSpPr>
          <p:cNvPr id="6" name="Arrow: Down 5">
            <a:extLst>
              <a:ext uri="{FF2B5EF4-FFF2-40B4-BE49-F238E27FC236}">
                <a16:creationId xmlns:a16="http://schemas.microsoft.com/office/drawing/2014/main" id="{22B4E61F-BF7D-AD2F-FAB3-42E3605AF392}"/>
              </a:ext>
            </a:extLst>
          </p:cNvPr>
          <p:cNvSpPr/>
          <p:nvPr/>
        </p:nvSpPr>
        <p:spPr>
          <a:xfrm>
            <a:off x="5430348" y="1219200"/>
            <a:ext cx="521718" cy="267611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B7D3F62-8C4D-0854-D100-90B3D95420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2307" y="3894320"/>
            <a:ext cx="4334480" cy="296268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BAC8F07-F264-408C-36DF-EE1C52D968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982" y="1766502"/>
            <a:ext cx="4623365" cy="1442365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246EB545-4CA4-A1DE-D2BD-48B6404989C8}"/>
              </a:ext>
            </a:extLst>
          </p:cNvPr>
          <p:cNvGrpSpPr/>
          <p:nvPr/>
        </p:nvGrpSpPr>
        <p:grpSpPr>
          <a:xfrm>
            <a:off x="6231267" y="846440"/>
            <a:ext cx="2853720" cy="1431000"/>
            <a:chOff x="6231267" y="846440"/>
            <a:chExt cx="2853720" cy="143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F68FB38-4367-7025-D83F-5833D630FAC0}"/>
                    </a:ext>
                  </a:extLst>
                </p14:cNvPr>
                <p14:cNvContentPartPr/>
                <p14:nvPr/>
              </p14:nvContentPartPr>
              <p14:xfrm>
                <a:off x="6231267" y="914120"/>
                <a:ext cx="1369800" cy="13392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F68FB38-4367-7025-D83F-5833D630FAC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213267" y="896120"/>
                  <a:ext cx="1405440" cy="137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18BFA2F-1FE9-7C72-62EF-3E42F6B5DFB3}"/>
                    </a:ext>
                  </a:extLst>
                </p14:cNvPr>
                <p14:cNvContentPartPr/>
                <p14:nvPr/>
              </p14:nvContentPartPr>
              <p14:xfrm>
                <a:off x="7340427" y="2020040"/>
                <a:ext cx="306360" cy="2574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18BFA2F-1FE9-7C72-62EF-3E42F6B5DFB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322427" y="2002040"/>
                  <a:ext cx="34200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F4A81D8-FB54-FA0C-53EB-A500BD5293D8}"/>
                    </a:ext>
                  </a:extLst>
                </p14:cNvPr>
                <p14:cNvContentPartPr/>
                <p14:nvPr/>
              </p14:nvContentPartPr>
              <p14:xfrm>
                <a:off x="7814907" y="846440"/>
                <a:ext cx="78120" cy="13114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F4A81D8-FB54-FA0C-53EB-A500BD5293D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796907" y="828800"/>
                  <a:ext cx="113760" cy="134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B9503C6-4096-8F5B-72BD-0708CFD0A58B}"/>
                    </a:ext>
                  </a:extLst>
                </p14:cNvPr>
                <p14:cNvContentPartPr/>
                <p14:nvPr/>
              </p14:nvContentPartPr>
              <p14:xfrm>
                <a:off x="7788627" y="1980080"/>
                <a:ext cx="263520" cy="2156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B9503C6-4096-8F5B-72BD-0708CFD0A58B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770987" y="1962440"/>
                  <a:ext cx="29916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FA6DCAF-507D-C63F-F018-30C88E00205B}"/>
                    </a:ext>
                  </a:extLst>
                </p14:cNvPr>
                <p14:cNvContentPartPr/>
                <p14:nvPr/>
              </p14:nvContentPartPr>
              <p14:xfrm>
                <a:off x="8209107" y="905840"/>
                <a:ext cx="875880" cy="12949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FA6DCAF-507D-C63F-F018-30C88E00205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191107" y="887840"/>
                  <a:ext cx="911520" cy="133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5F394B0-E493-A889-0AE2-5A6914391560}"/>
                    </a:ext>
                  </a:extLst>
                </p14:cNvPr>
                <p14:cNvContentPartPr/>
                <p14:nvPr/>
              </p14:nvContentPartPr>
              <p14:xfrm>
                <a:off x="8169507" y="1998080"/>
                <a:ext cx="367920" cy="2271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5F394B0-E493-A889-0AE2-5A691439156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151867" y="1980440"/>
                  <a:ext cx="403560" cy="2628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B87260AF-176F-7F32-A74E-583077479F3B}"/>
              </a:ext>
            </a:extLst>
          </p:cNvPr>
          <p:cNvSpPr txBox="1"/>
          <p:nvPr/>
        </p:nvSpPr>
        <p:spPr>
          <a:xfrm>
            <a:off x="7336729" y="2277440"/>
            <a:ext cx="16048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don’t worry about them </a:t>
            </a:r>
            <a:r>
              <a:rPr lang="en-US" dirty="0">
                <a:sym typeface="Wingdings" panose="05000000000000000000" pitchFamily="2" charset="2"/>
              </a:rPr>
              <a:t> </a:t>
            </a:r>
            <a:endParaRPr lang="en-US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BCA4E1A-50D6-4C42-05DA-D54EC322C277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336729" y="2903823"/>
            <a:ext cx="4855271" cy="990497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A8FF3724-0CED-C586-A7D4-B31E47420998}"/>
              </a:ext>
            </a:extLst>
          </p:cNvPr>
          <p:cNvSpPr txBox="1"/>
          <p:nvPr/>
        </p:nvSpPr>
        <p:spPr>
          <a:xfrm>
            <a:off x="9787466" y="3801534"/>
            <a:ext cx="24045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KIND REMINDER</a:t>
            </a:r>
          </a:p>
        </p:txBody>
      </p:sp>
    </p:spTree>
    <p:extLst>
      <p:ext uri="{BB962C8B-B14F-4D97-AF65-F5344CB8AC3E}">
        <p14:creationId xmlns:p14="http://schemas.microsoft.com/office/powerpoint/2010/main" val="10293827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A87E9-1A2B-E074-95D6-F62A25193F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7532" y="2129896"/>
            <a:ext cx="9990667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4) </a:t>
            </a:r>
            <a:r>
              <a:rPr lang="en-US" sz="6000" dirty="0"/>
              <a:t>t-Distributed stochastic neighbor embedding (t-SNE)</a:t>
            </a:r>
            <a:br>
              <a:rPr lang="en-US" sz="6000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95052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B112896-CC3C-1E16-7BE3-0E98DA6C77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117422"/>
            <a:ext cx="11430000" cy="2623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7889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D28332-6F1A-084C-2439-6F63E8148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667" y="835025"/>
            <a:ext cx="11726333" cy="4351338"/>
          </a:xfrm>
        </p:spPr>
        <p:txBody>
          <a:bodyPr/>
          <a:lstStyle/>
          <a:p>
            <a:r>
              <a:rPr lang="en-US" dirty="0"/>
              <a:t>t-SNE reduces dimensionality </a:t>
            </a:r>
            <a:r>
              <a:rPr lang="en-US" dirty="0">
                <a:highlight>
                  <a:srgbClr val="FFFF00"/>
                </a:highlight>
              </a:rPr>
              <a:t>while trying to keep similar instances close and dissimilar instances apart</a:t>
            </a:r>
          </a:p>
          <a:p>
            <a:endParaRPr lang="en-US" dirty="0"/>
          </a:p>
          <a:p>
            <a:r>
              <a:rPr lang="en-US" dirty="0"/>
              <a:t>it’s very </a:t>
            </a:r>
            <a:r>
              <a:rPr lang="en-US" dirty="0">
                <a:highlight>
                  <a:srgbClr val="FFFF00"/>
                </a:highlight>
              </a:rPr>
              <a:t>good for visualizing clusters of instances</a:t>
            </a:r>
            <a:r>
              <a:rPr lang="en-US" dirty="0"/>
              <a:t> in high-dimensional space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4EACAD-D794-ECE9-4971-1A3F6C5E8C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" y="3357334"/>
            <a:ext cx="4087537" cy="33775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BE99E77-7490-9EA3-06D4-E45EE3E62F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9733" y="3578319"/>
            <a:ext cx="3124200" cy="3216088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18786117-6483-86AF-322D-1AFACDC3881D}"/>
              </a:ext>
            </a:extLst>
          </p:cNvPr>
          <p:cNvSpPr/>
          <p:nvPr/>
        </p:nvSpPr>
        <p:spPr>
          <a:xfrm>
            <a:off x="5542566" y="4760398"/>
            <a:ext cx="1544034" cy="58206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08260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aper with text and images&#10;&#10;Description automatically generated with medium confidence">
            <a:extLst>
              <a:ext uri="{FF2B5EF4-FFF2-40B4-BE49-F238E27FC236}">
                <a16:creationId xmlns:a16="http://schemas.microsoft.com/office/drawing/2014/main" id="{33CD842B-5026-45BF-2E62-9DC28430E4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475"/>
            <a:ext cx="6198532" cy="6292925"/>
          </a:xfrm>
          <a:prstGeom prst="rect">
            <a:avLst/>
          </a:prstGeom>
        </p:spPr>
      </p:pic>
      <p:pic>
        <p:nvPicPr>
          <p:cNvPr id="9" name="Picture 8" descr="A white paper with black text and black text&#10;&#10;Description automatically generated">
            <a:extLst>
              <a:ext uri="{FF2B5EF4-FFF2-40B4-BE49-F238E27FC236}">
                <a16:creationId xmlns:a16="http://schemas.microsoft.com/office/drawing/2014/main" id="{07257116-1D26-44CC-A4BD-AB9025A6BE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8532" y="416189"/>
            <a:ext cx="5799668" cy="398727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C70E11B-AE03-FF71-4AD0-F63C6095A1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3800" y="4664690"/>
            <a:ext cx="3378200" cy="219330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53FE202-741F-6D00-974B-B67628CBE56C}"/>
              </a:ext>
            </a:extLst>
          </p:cNvPr>
          <p:cNvSpPr txBox="1"/>
          <p:nvPr/>
        </p:nvSpPr>
        <p:spPr>
          <a:xfrm>
            <a:off x="7184527" y="5299679"/>
            <a:ext cx="16292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Again, don’t worry about it </a:t>
            </a:r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 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465490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01A73-BA7F-5923-772F-DBA4DD2F3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3800" y="2388658"/>
            <a:ext cx="10515600" cy="1325563"/>
          </a:xfrm>
        </p:spPr>
        <p:txBody>
          <a:bodyPr>
            <a:normAutofit/>
          </a:bodyPr>
          <a:lstStyle/>
          <a:p>
            <a:r>
              <a:rPr lang="en-US" sz="7200" dirty="0"/>
              <a:t>Code part</a:t>
            </a:r>
          </a:p>
        </p:txBody>
      </p:sp>
    </p:spTree>
    <p:extLst>
      <p:ext uri="{BB962C8B-B14F-4D97-AF65-F5344CB8AC3E}">
        <p14:creationId xmlns:p14="http://schemas.microsoft.com/office/powerpoint/2010/main" val="12659438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B2B4763-3025-8F8F-B5B4-EDACF1B353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4096" y="0"/>
            <a:ext cx="8449954" cy="10329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DEAC6D0-DE58-52C3-D0DE-C991BF2096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1729" y="3866733"/>
            <a:ext cx="3620005" cy="2991267"/>
          </a:xfrm>
          <a:prstGeom prst="rect">
            <a:avLst/>
          </a:prstGeom>
        </p:spPr>
      </p:pic>
      <p:sp>
        <p:nvSpPr>
          <p:cNvPr id="10" name="Arrow: Down 9">
            <a:extLst>
              <a:ext uri="{FF2B5EF4-FFF2-40B4-BE49-F238E27FC236}">
                <a16:creationId xmlns:a16="http://schemas.microsoft.com/office/drawing/2014/main" id="{690F1EAD-FF59-5CC7-E9CC-6F09835EFC64}"/>
              </a:ext>
            </a:extLst>
          </p:cNvPr>
          <p:cNvSpPr/>
          <p:nvPr/>
        </p:nvSpPr>
        <p:spPr>
          <a:xfrm>
            <a:off x="5159415" y="1219200"/>
            <a:ext cx="538652" cy="299126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452608B-8FF5-2A9A-8E1A-07FB99DA4C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8067" y="1319290"/>
            <a:ext cx="3933784" cy="2447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2212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27D39D2-AE31-DAD8-FFD8-5933AB4AD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7133" y="1"/>
            <a:ext cx="5452534" cy="1312396"/>
          </a:xfrm>
          <a:prstGeom prst="rect">
            <a:avLst/>
          </a:prstGeom>
        </p:spPr>
      </p:pic>
      <p:sp>
        <p:nvSpPr>
          <p:cNvPr id="6" name="Arrow: Down 5">
            <a:extLst>
              <a:ext uri="{FF2B5EF4-FFF2-40B4-BE49-F238E27FC236}">
                <a16:creationId xmlns:a16="http://schemas.microsoft.com/office/drawing/2014/main" id="{71EA7DF7-2119-F389-91DA-DAE827064425}"/>
              </a:ext>
            </a:extLst>
          </p:cNvPr>
          <p:cNvSpPr/>
          <p:nvPr/>
        </p:nvSpPr>
        <p:spPr>
          <a:xfrm>
            <a:off x="5334631" y="1371999"/>
            <a:ext cx="594105" cy="183423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900835B-FD4A-AA70-B56D-632C9AE6AF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9867" y="3265839"/>
            <a:ext cx="3489528" cy="359216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2855D70-D6AE-44D9-8495-0A8461FB3C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8443" y="1533211"/>
            <a:ext cx="4047558" cy="113521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161D8CD-DB37-C789-C087-B7B6DB397D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61705" y="3872298"/>
            <a:ext cx="1808561" cy="2342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53595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11B485-C1B1-00B4-C88D-E9B601F083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3608" y="707465"/>
            <a:ext cx="5281551" cy="6895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718386-6F56-3C3E-B34D-2F567E9D44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2835" y="3736520"/>
            <a:ext cx="6163098" cy="27337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F1B462-71C1-C61B-E223-B8F81EF07D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1435" y="1992117"/>
            <a:ext cx="5391902" cy="866896"/>
          </a:xfrm>
          <a:prstGeom prst="rect">
            <a:avLst/>
          </a:prstGeom>
        </p:spPr>
      </p:pic>
      <p:sp>
        <p:nvSpPr>
          <p:cNvPr id="10" name="Arrow: Down 9">
            <a:extLst>
              <a:ext uri="{FF2B5EF4-FFF2-40B4-BE49-F238E27FC236}">
                <a16:creationId xmlns:a16="http://schemas.microsoft.com/office/drawing/2014/main" id="{3227B7D5-B2B4-7FE2-EBD5-94D78DE7C540}"/>
              </a:ext>
            </a:extLst>
          </p:cNvPr>
          <p:cNvSpPr/>
          <p:nvPr/>
        </p:nvSpPr>
        <p:spPr>
          <a:xfrm>
            <a:off x="5147330" y="1649641"/>
            <a:ext cx="594105" cy="183423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53813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82E6853-78FC-AAD1-7A46-131813D9F26E}"/>
              </a:ext>
            </a:extLst>
          </p:cNvPr>
          <p:cNvCxnSpPr/>
          <p:nvPr/>
        </p:nvCxnSpPr>
        <p:spPr>
          <a:xfrm>
            <a:off x="5765799" y="0"/>
            <a:ext cx="0" cy="685800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B8315E63-AE80-E653-2E3E-FBA7987ABD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66" y="96762"/>
            <a:ext cx="5330470" cy="10039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D85EBAD-4DF0-CAD0-0B0D-9D026BE415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7645" y="96762"/>
            <a:ext cx="5619078" cy="1003905"/>
          </a:xfrm>
          <a:prstGeom prst="rect">
            <a:avLst/>
          </a:prstGeom>
        </p:spPr>
      </p:pic>
      <p:sp>
        <p:nvSpPr>
          <p:cNvPr id="10" name="Arrow: Down 9">
            <a:extLst>
              <a:ext uri="{FF2B5EF4-FFF2-40B4-BE49-F238E27FC236}">
                <a16:creationId xmlns:a16="http://schemas.microsoft.com/office/drawing/2014/main" id="{88B0C174-D742-1E8A-B9A2-1B26950DA95A}"/>
              </a:ext>
            </a:extLst>
          </p:cNvPr>
          <p:cNvSpPr/>
          <p:nvPr/>
        </p:nvSpPr>
        <p:spPr>
          <a:xfrm>
            <a:off x="2473491" y="1304363"/>
            <a:ext cx="603616" cy="165635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554D1BCF-F85A-0D98-32B7-EFB393A9F053}"/>
              </a:ext>
            </a:extLst>
          </p:cNvPr>
          <p:cNvSpPr/>
          <p:nvPr/>
        </p:nvSpPr>
        <p:spPr>
          <a:xfrm>
            <a:off x="8670132" y="1327908"/>
            <a:ext cx="575468" cy="157616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EF314E9-9086-34B6-464C-DF29C86307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2262" y="2984257"/>
            <a:ext cx="4020698" cy="387374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E50AB16-5EA7-FD83-747D-F4AF772CBC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428" y="2984257"/>
            <a:ext cx="3955504" cy="384594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F96F531-434C-7560-F738-E2F83EFDD2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17158" y="1504872"/>
            <a:ext cx="2526743" cy="111306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D604E4D-9F1E-68B7-AD15-7D010D6C913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42310" y="1559454"/>
            <a:ext cx="2737143" cy="1003905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FD21FCF2-1513-50C8-1E9A-292C2DC7531C}"/>
              </a:ext>
            </a:extLst>
          </p:cNvPr>
          <p:cNvSpPr/>
          <p:nvPr/>
        </p:nvSpPr>
        <p:spPr>
          <a:xfrm>
            <a:off x="154126" y="1582234"/>
            <a:ext cx="151740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PCA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866A7F8-A745-101D-474D-04506A85B7ED}"/>
              </a:ext>
            </a:extLst>
          </p:cNvPr>
          <p:cNvSpPr/>
          <p:nvPr/>
        </p:nvSpPr>
        <p:spPr>
          <a:xfrm>
            <a:off x="5920268" y="1582234"/>
            <a:ext cx="198112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t</a:t>
            </a:r>
            <a:r>
              <a: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-SNE</a:t>
            </a:r>
          </a:p>
        </p:txBody>
      </p:sp>
    </p:spTree>
    <p:extLst>
      <p:ext uri="{BB962C8B-B14F-4D97-AF65-F5344CB8AC3E}">
        <p14:creationId xmlns:p14="http://schemas.microsoft.com/office/powerpoint/2010/main" val="290711373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714D0-BDCB-FA6D-C1B5-393BB0124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684991"/>
            <a:ext cx="10854213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	    Conclusion from the previous slide?</a:t>
            </a:r>
            <a:br>
              <a:rPr lang="en-US" dirty="0"/>
            </a:br>
            <a:br>
              <a:rPr lang="en-US" dirty="0"/>
            </a:br>
            <a:r>
              <a:rPr lang="en-US" dirty="0">
                <a:highlight>
                  <a:srgbClr val="FFFF00"/>
                </a:highlight>
              </a:rPr>
              <a:t>t-SNE reduces dimensionality while also helps for clustering !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325135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41339-F51E-6D1F-BDF0-3E91B2AED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9140" y="2435225"/>
            <a:ext cx="5996940" cy="1325563"/>
          </a:xfrm>
        </p:spPr>
        <p:txBody>
          <a:bodyPr>
            <a:normAutofit/>
          </a:bodyPr>
          <a:lstStyle/>
          <a:p>
            <a:r>
              <a:rPr lang="en-US" sz="8800" dirty="0"/>
              <a:t>Exercises</a:t>
            </a:r>
          </a:p>
        </p:txBody>
      </p:sp>
    </p:spTree>
    <p:extLst>
      <p:ext uri="{BB962C8B-B14F-4D97-AF65-F5344CB8AC3E}">
        <p14:creationId xmlns:p14="http://schemas.microsoft.com/office/powerpoint/2010/main" val="164975832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FFA6275-00C6-4A67-383D-8E1DCCB2DC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97" y="0"/>
            <a:ext cx="11145805" cy="6697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24159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07B60-8B65-CF2E-1553-7AF220328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79941"/>
            <a:ext cx="10515600" cy="1325563"/>
          </a:xfrm>
        </p:spPr>
        <p:txBody>
          <a:bodyPr/>
          <a:lstStyle/>
          <a:p>
            <a:r>
              <a:rPr lang="en-US" dirty="0"/>
              <a:t>Solutions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D82EA3-7FCB-FE38-592A-3490FC1575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7862"/>
            <a:ext cx="7145867" cy="107071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32B2432-F976-AF17-882C-8D9A90A113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16768"/>
            <a:ext cx="12192000" cy="157922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831D63C-CFA7-A361-4DCA-96D87A63CC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15996"/>
            <a:ext cx="9802593" cy="115268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B199394-6075-166C-E648-97980C94C3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846323"/>
            <a:ext cx="6268325" cy="159089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DF83998-8C45-2F95-90D0-C547F2A703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2486" y="4946942"/>
            <a:ext cx="5350181" cy="1389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06819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DC9F188-AA10-6072-164F-2BCC531B63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1134" y="0"/>
            <a:ext cx="8221495" cy="37370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074B9BE-BF82-6C37-7ED2-7AFC5E96E3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0688" y="3778485"/>
            <a:ext cx="3976400" cy="3079515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A233BC74-0FE2-729C-2344-70452F50BF27}"/>
              </a:ext>
            </a:extLst>
          </p:cNvPr>
          <p:cNvSpPr/>
          <p:nvPr/>
        </p:nvSpPr>
        <p:spPr>
          <a:xfrm>
            <a:off x="1871133" y="5075926"/>
            <a:ext cx="1490133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AA45F0E7-EB40-6410-DD0A-2EFB3223DA39}"/>
              </a:ext>
            </a:extLst>
          </p:cNvPr>
          <p:cNvSpPr/>
          <p:nvPr/>
        </p:nvSpPr>
        <p:spPr>
          <a:xfrm>
            <a:off x="10507133" y="1626205"/>
            <a:ext cx="1490133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17483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5FDF06A-1EE6-15DA-9592-2684C92C2D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26332" cy="13027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6B4DC2-E9A3-299E-EDBE-110133774B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24683"/>
            <a:ext cx="12192000" cy="33236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092F0F6-C119-C722-1A51-129FC4AE30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2251" y="3348133"/>
            <a:ext cx="4519749" cy="3509867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C20DA96E-A565-E185-FDCD-21AD3C371581}"/>
              </a:ext>
            </a:extLst>
          </p:cNvPr>
          <p:cNvSpPr/>
          <p:nvPr/>
        </p:nvSpPr>
        <p:spPr>
          <a:xfrm>
            <a:off x="5350933" y="5103066"/>
            <a:ext cx="1490133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94944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0136585-BF07-9E50-AC39-92B34F068D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6781800" cy="17174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02D5FCA-3991-5D98-7B3A-2D5D9D88C2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778090"/>
            <a:ext cx="9982200" cy="5079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08967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5F19F6-8767-46FB-DB2A-BE4A8D382B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91" y="571101"/>
            <a:ext cx="12127017" cy="5715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18789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41339-F51E-6D1F-BDF0-3E91B2AED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9140" y="2435225"/>
            <a:ext cx="5996940" cy="1325563"/>
          </a:xfrm>
        </p:spPr>
        <p:txBody>
          <a:bodyPr>
            <a:normAutofit/>
          </a:bodyPr>
          <a:lstStyle/>
          <a:p>
            <a:r>
              <a:rPr lang="en-US" sz="8800" dirty="0"/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39691026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1101</Words>
  <Application>Microsoft Office PowerPoint</Application>
  <PresentationFormat>Ecran lat</PresentationFormat>
  <Paragraphs>151</Paragraphs>
  <Slides>53</Slides>
  <Notes>0</Notes>
  <HiddenSlides>0</HiddenSlides>
  <MMClips>2</MMClips>
  <ScaleCrop>false</ScaleCrop>
  <HeadingPairs>
    <vt:vector size="6" baseType="variant">
      <vt:variant>
        <vt:lpstr>Fonturi utilizate</vt:lpstr>
      </vt:variant>
      <vt:variant>
        <vt:i4>5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53</vt:i4>
      </vt:variant>
    </vt:vector>
  </HeadingPairs>
  <TitlesOfParts>
    <vt:vector size="59" baseType="lpstr">
      <vt:lpstr>Aptos</vt:lpstr>
      <vt:lpstr>Aptos Display</vt:lpstr>
      <vt:lpstr>Arial</vt:lpstr>
      <vt:lpstr>Cambria Math</vt:lpstr>
      <vt:lpstr>Wingdings</vt:lpstr>
      <vt:lpstr>Office Theme</vt:lpstr>
      <vt:lpstr>Bazele inteligenței artificiale</vt:lpstr>
      <vt:lpstr>Prezentare PowerPoint</vt:lpstr>
      <vt:lpstr>Prezentare PowerPoint</vt:lpstr>
      <vt:lpstr>Content</vt:lpstr>
      <vt:lpstr>1) The curse of dimensionality</vt:lpstr>
      <vt:lpstr>Prezentare PowerPoint</vt:lpstr>
      <vt:lpstr>Prezentare PowerPoint</vt:lpstr>
      <vt:lpstr>Prezentare PowerPoint</vt:lpstr>
      <vt:lpstr>Prezentare PowerPoint</vt:lpstr>
      <vt:lpstr>Prezentare PowerPoint</vt:lpstr>
      <vt:lpstr>2) Principal component analysis (PCA) </vt:lpstr>
      <vt:lpstr>Prezentare PowerPoint</vt:lpstr>
      <vt:lpstr>Prezentare PowerPoint</vt:lpstr>
      <vt:lpstr>Prezentare PowerPoint</vt:lpstr>
      <vt:lpstr>Prezentare PowerPoint</vt:lpstr>
      <vt:lpstr>PCA Steps</vt:lpstr>
      <vt:lpstr>Prezentare PowerPoint</vt:lpstr>
      <vt:lpstr>Prezentare PowerPoint</vt:lpstr>
      <vt:lpstr>Prezentare PowerPoint</vt:lpstr>
      <vt:lpstr>What is SVD? </vt:lpstr>
      <vt:lpstr>Prezentare PowerPoint</vt:lpstr>
      <vt:lpstr>Prezentare PowerPoint</vt:lpstr>
      <vt:lpstr>Prezentare PowerPoint</vt:lpstr>
      <vt:lpstr>Code part</vt:lpstr>
      <vt:lpstr>Prezentare PowerPoint</vt:lpstr>
      <vt:lpstr>Prezentare PowerPoint</vt:lpstr>
      <vt:lpstr>…or in a simpler way…</vt:lpstr>
      <vt:lpstr>Prezentare PowerPoint</vt:lpstr>
      <vt:lpstr>Prezentare PowerPoint</vt:lpstr>
      <vt:lpstr>3) Locally linear embedding (LLE) </vt:lpstr>
      <vt:lpstr>Prezentare PowerPoint</vt:lpstr>
      <vt:lpstr>Prezentare PowerPoint</vt:lpstr>
      <vt:lpstr>Code part</vt:lpstr>
      <vt:lpstr>Prezentare PowerPoint</vt:lpstr>
      <vt:lpstr>Prezentare PowerPoint</vt:lpstr>
      <vt:lpstr>4) t-Distributed stochastic neighbor embedding (t-SNE) </vt:lpstr>
      <vt:lpstr>Prezentare PowerPoint</vt:lpstr>
      <vt:lpstr>Prezentare PowerPoint</vt:lpstr>
      <vt:lpstr>Prezentare PowerPoint</vt:lpstr>
      <vt:lpstr>Code part</vt:lpstr>
      <vt:lpstr>Prezentare PowerPoint</vt:lpstr>
      <vt:lpstr>Prezentare PowerPoint</vt:lpstr>
      <vt:lpstr>Prezentare PowerPoint</vt:lpstr>
      <vt:lpstr>Prezentare PowerPoint</vt:lpstr>
      <vt:lpstr>     Conclusion from the previous slide?  t-SNE reduces dimensionality while also helps for clustering !  </vt:lpstr>
      <vt:lpstr>Exercises</vt:lpstr>
      <vt:lpstr>Prezentare PowerPoint</vt:lpstr>
      <vt:lpstr>Solutions</vt:lpstr>
      <vt:lpstr>Prezentare PowerPoint</vt:lpstr>
      <vt:lpstr>Prezentare PowerPoint</vt:lpstr>
      <vt:lpstr>Prezentare PowerPoint</vt:lpstr>
      <vt:lpstr>Prezentare PowerPoint</vt:lpstr>
      <vt:lpstr>Thank you !</vt:lpstr>
    </vt:vector>
  </TitlesOfParts>
  <Company>evosoft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Grigore Atimut, Ionut Orlando (ADV D EU RO IFA AI DN)</dc:creator>
  <cp:lastModifiedBy>Daria Ciobanu</cp:lastModifiedBy>
  <cp:revision>59</cp:revision>
  <dcterms:created xsi:type="dcterms:W3CDTF">2024-10-01T10:20:11Z</dcterms:created>
  <dcterms:modified xsi:type="dcterms:W3CDTF">2025-11-11T16:58:05Z</dcterms:modified>
</cp:coreProperties>
</file>